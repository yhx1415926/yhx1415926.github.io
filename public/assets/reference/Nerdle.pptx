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9" r:id="rId7"/>
    <p:sldId id="27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8588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各位老师好，我的课题是 Nerdle 10 格：在本地实现出题、人工解题和机器解题。封面上这一行全绿的等式，就是后面演示中程序 4 步解出的答案。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先介绍游戏本身。Nerdle 和 Wordle 玩法一样，只是把单词换成了等式。右边是一个真实例子：答案是 12+35−7=40，第一次猜 56+4−31=29，加号和等号位置对，所以是绿色；5、4、减号、3、1、2 在答案里都有但位置不对，是紫色；6 和 9 答案里没有，是黑色。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规则是先和需求方确认过的。按这套规则完整枚举，10 格一共有 1,404,041 个合法等式。为了确认规则理解没有偏差，同样的程序跑 8 格，得到 17,723，和公开数字一致；长度 5、6 还用暴力枚举交叉验证过。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课程要求的三项任务是出题、人工解题和机器解题，机器学习是加分项。在此之外还有三个扩展：给 macOS 留好调用接口；做一个通用的 Computer Use 能力，并包装成 MCP 服务器；用 ManimGL 做讲解动画。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整体架构是一个 C11 核心库 libnerdle，规则、枚举、反馈、出题和所有求解器都在里面。上面的各个部分都调用同一份核心：终端版直接链接，macOS 通过头文件和 SwiftPM 模块引用，Python 通过 ctypes 调用，训练好的权重再交回 C 做推理。Computer Use 是独立的通用能力，只借 CNerdle 演示几个 Nerdle 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这是程序真实跑出来的一局。开始时 140 万个候选，第一步猜 56+4−31=29 之后只剩 374 个，第二步剩 10 个，第三步剩 1 个，第四步猜中。核心思想来自 3Blue1Brown 的 Wordle 视频：每次猜测相当于把候选集按反馈切成很多桶，切得越均匀，信息量越大。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机器解题设计了九种策略。E1、E2 是简单基线；E3 是最大熵；E4 进一步估计期望步数，是目前效果最好的；E5 做两步前瞻；E6 在候选很少时直接精确搜索；E7 把前两手离线算好；E8 只看最坏情况；E9 不建题库，边枚举边剪枝，用来交叉验证。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机器学习是加分项，计划四种方案。ML-1 最简单，拟合 E4 需要的 f 函数。ML-2 是主推方案：用神经网络估计“从当前局面还要几步”，再结合搜索选猜测，通过自对弈反复迭代。ML-3 用 PPO 直接学策略。ML-4 完全不用枚举，作为对照实验，属于可选内容。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前四步已经完成并测试，这里是 1 万道 10 格题的实测结果。随机基线平均 3.73 步，有 27 题超过 6 步；E4 期望步数加开局库平均 3.33 步，最坏 5 步，全部在 6 步内解出。8 格全量的平均步数是 2.96 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整个项目分四个阶段。第一阶段的基础系统已经完成并测试，覆盖了课程的基本要求。后面三个阶段的代码已有草稿，接下来依次完成机器学习训练、macOS 端验证，以及讲解动画和文档。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第一个难点是计算量，已经通过剪枝、抽样、多线程和开局库解决。第二个是机器学习训练比预估慢，下一步先做性能剖析。第三个是 Swift 代码只能在 Mac 上编译，所以写了一键检查脚本，结果自动回传。最后，规则口径通过多种方式交叉验证过。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最终交付五部分内容。所有解题方案都在同一套题上评测，比较平均步数、最坏步数和耗时。验收标准是主力策略全部 6 步内解出，并且机器学习方案不能比最大熵更差。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汇报完毕，谢谢各位老师，请批评指正。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000720"/>
            <a:ext cx="10566400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C1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772841"/>
            <a:ext cx="10566400" cy="4272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C1F2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000720"/>
            <a:ext cx="10566400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C1F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772841"/>
            <a:ext cx="10566400" cy="4272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C1F2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kern="0" spc="200" dirty="0">
                <a:solidFill>
                  <a:srgbClr val="6FC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课程设计 · 开题汇报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14090"/>
            <a:ext cx="1088339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600"/>
              </a:lnSpc>
              <a:buNone/>
            </a:pPr>
            <a:r>
              <a:rPr lang="en-US" sz="6000" b="1" i="0" dirty="0">
                <a:solidFill>
                  <a:srgbClr val="F2EFE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Nerdle 10 格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2204690"/>
            <a:ext cx="10883392" cy="421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D9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本地出题 · 人工解题 · 机器解题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12800" y="3868440"/>
            <a:ext cx="558800" cy="660400"/>
          </a:xfrm>
          <a:custGeom>
            <a:avLst/>
            <a:gdLst/>
            <a:ahLst/>
            <a:cxnLst/>
            <a:rect l="l" t="t" r="r" b="b"/>
            <a:pathLst>
              <a:path w="558800" h="660400">
                <a:moveTo>
                  <a:pt x="63500" y="0"/>
                </a:moveTo>
                <a:lnTo>
                  <a:pt x="495300" y="0"/>
                </a:lnTo>
                <a:arcTo wR="63500" hR="63500" stAng="16200000" swAng="5400000"/>
                <a:lnTo>
                  <a:pt x="558800" y="596900"/>
                </a:lnTo>
                <a:arcTo wR="63500" hR="63500" stAng="0" swAng="5400000"/>
                <a:lnTo>
                  <a:pt x="63500" y="660400"/>
                </a:lnTo>
                <a:arcTo wR="63500" hR="63500" stAng="5400000" swAng="5400000"/>
                <a:lnTo>
                  <a:pt x="0" y="63500"/>
                </a:lnTo>
                <a:arcTo wR="63500" hR="63500" stAng="10800000" swAng="5400000"/>
                <a:close/>
              </a:path>
            </a:pathLst>
          </a:custGeom>
          <a:solidFill>
            <a:srgbClr val="398874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5208"/>
              </a:lnSpc>
              <a:buNone/>
            </a:pPr>
            <a:r>
              <a:rPr lang="en-US" sz="28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447800" y="3868440"/>
            <a:ext cx="558800" cy="660400"/>
          </a:xfrm>
          <a:custGeom>
            <a:avLst/>
            <a:gdLst/>
            <a:ahLst/>
            <a:cxnLst/>
            <a:rect l="l" t="t" r="r" b="b"/>
            <a:pathLst>
              <a:path w="558800" h="660400">
                <a:moveTo>
                  <a:pt x="63500" y="0"/>
                </a:moveTo>
                <a:lnTo>
                  <a:pt x="495300" y="0"/>
                </a:lnTo>
                <a:arcTo wR="63500" hR="63500" stAng="16200000" swAng="5400000"/>
                <a:lnTo>
                  <a:pt x="558800" y="596900"/>
                </a:lnTo>
                <a:arcTo wR="63500" hR="63500" stAng="0" swAng="5400000"/>
                <a:lnTo>
                  <a:pt x="63500" y="660400"/>
                </a:lnTo>
                <a:arcTo wR="63500" hR="63500" stAng="5400000" swAng="5400000"/>
                <a:lnTo>
                  <a:pt x="0" y="63500"/>
                </a:lnTo>
                <a:arcTo wR="63500" hR="63500" stAng="10800000" swAng="5400000"/>
                <a:close/>
              </a:path>
            </a:pathLst>
          </a:custGeom>
          <a:solidFill>
            <a:srgbClr val="398874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5208"/>
              </a:lnSpc>
              <a:buNone/>
            </a:pPr>
            <a:r>
              <a:rPr lang="en-US" sz="28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082800" y="3868440"/>
            <a:ext cx="558800" cy="660400"/>
          </a:xfrm>
          <a:custGeom>
            <a:avLst/>
            <a:gdLst/>
            <a:ahLst/>
            <a:cxnLst/>
            <a:rect l="l" t="t" r="r" b="b"/>
            <a:pathLst>
              <a:path w="558800" h="660400">
                <a:moveTo>
                  <a:pt x="63500" y="0"/>
                </a:moveTo>
                <a:lnTo>
                  <a:pt x="495300" y="0"/>
                </a:lnTo>
                <a:arcTo wR="63500" hR="63500" stAng="16200000" swAng="5400000"/>
                <a:lnTo>
                  <a:pt x="558800" y="596900"/>
                </a:lnTo>
                <a:arcTo wR="63500" hR="63500" stAng="0" swAng="5400000"/>
                <a:lnTo>
                  <a:pt x="63500" y="660400"/>
                </a:lnTo>
                <a:arcTo wR="63500" hR="63500" stAng="5400000" swAng="5400000"/>
                <a:lnTo>
                  <a:pt x="0" y="63500"/>
                </a:lnTo>
                <a:arcTo wR="63500" hR="63500" stAng="10800000" swAng="5400000"/>
                <a:close/>
              </a:path>
            </a:pathLst>
          </a:custGeom>
          <a:solidFill>
            <a:srgbClr val="398874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5208"/>
              </a:lnSpc>
              <a:buNone/>
            </a:pPr>
            <a:r>
              <a:rPr lang="en-US" sz="28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+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17800" y="3868440"/>
            <a:ext cx="558800" cy="660400"/>
          </a:xfrm>
          <a:custGeom>
            <a:avLst/>
            <a:gdLst/>
            <a:ahLst/>
            <a:cxnLst/>
            <a:rect l="l" t="t" r="r" b="b"/>
            <a:pathLst>
              <a:path w="558800" h="660400">
                <a:moveTo>
                  <a:pt x="63500" y="0"/>
                </a:moveTo>
                <a:lnTo>
                  <a:pt x="495300" y="0"/>
                </a:lnTo>
                <a:arcTo wR="63500" hR="63500" stAng="16200000" swAng="5400000"/>
                <a:lnTo>
                  <a:pt x="558800" y="596900"/>
                </a:lnTo>
                <a:arcTo wR="63500" hR="63500" stAng="0" swAng="5400000"/>
                <a:lnTo>
                  <a:pt x="63500" y="660400"/>
                </a:lnTo>
                <a:arcTo wR="63500" hR="63500" stAng="5400000" swAng="5400000"/>
                <a:lnTo>
                  <a:pt x="0" y="63500"/>
                </a:lnTo>
                <a:arcTo wR="63500" hR="63500" stAng="10800000" swAng="5400000"/>
                <a:close/>
              </a:path>
            </a:pathLst>
          </a:custGeom>
          <a:solidFill>
            <a:srgbClr val="398874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5208"/>
              </a:lnSpc>
              <a:buNone/>
            </a:pPr>
            <a:r>
              <a:rPr lang="en-US" sz="28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3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352800" y="3868440"/>
            <a:ext cx="558800" cy="660400"/>
          </a:xfrm>
          <a:custGeom>
            <a:avLst/>
            <a:gdLst/>
            <a:ahLst/>
            <a:cxnLst/>
            <a:rect l="l" t="t" r="r" b="b"/>
            <a:pathLst>
              <a:path w="558800" h="660400">
                <a:moveTo>
                  <a:pt x="63500" y="0"/>
                </a:moveTo>
                <a:lnTo>
                  <a:pt x="495300" y="0"/>
                </a:lnTo>
                <a:arcTo wR="63500" hR="63500" stAng="16200000" swAng="5400000"/>
                <a:lnTo>
                  <a:pt x="558800" y="596900"/>
                </a:lnTo>
                <a:arcTo wR="63500" hR="63500" stAng="0" swAng="5400000"/>
                <a:lnTo>
                  <a:pt x="63500" y="660400"/>
                </a:lnTo>
                <a:arcTo wR="63500" hR="63500" stAng="5400000" swAng="5400000"/>
                <a:lnTo>
                  <a:pt x="0" y="63500"/>
                </a:lnTo>
                <a:arcTo wR="63500" hR="63500" stAng="10800000" swAng="5400000"/>
                <a:close/>
              </a:path>
            </a:pathLst>
          </a:custGeom>
          <a:solidFill>
            <a:srgbClr val="398874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5208"/>
              </a:lnSpc>
              <a:buNone/>
            </a:pPr>
            <a:r>
              <a:rPr lang="en-US" sz="28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5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987800" y="3868440"/>
            <a:ext cx="558800" cy="660400"/>
          </a:xfrm>
          <a:custGeom>
            <a:avLst/>
            <a:gdLst/>
            <a:ahLst/>
            <a:cxnLst/>
            <a:rect l="l" t="t" r="r" b="b"/>
            <a:pathLst>
              <a:path w="558800" h="660400">
                <a:moveTo>
                  <a:pt x="63500" y="0"/>
                </a:moveTo>
                <a:lnTo>
                  <a:pt x="495300" y="0"/>
                </a:lnTo>
                <a:arcTo wR="63500" hR="63500" stAng="16200000" swAng="5400000"/>
                <a:lnTo>
                  <a:pt x="558800" y="596900"/>
                </a:lnTo>
                <a:arcTo wR="63500" hR="63500" stAng="0" swAng="5400000"/>
                <a:lnTo>
                  <a:pt x="63500" y="660400"/>
                </a:lnTo>
                <a:arcTo wR="63500" hR="63500" stAng="5400000" swAng="5400000"/>
                <a:lnTo>
                  <a:pt x="0" y="63500"/>
                </a:lnTo>
                <a:arcTo wR="63500" hR="63500" stAng="10800000" swAng="5400000"/>
                <a:close/>
              </a:path>
            </a:pathLst>
          </a:custGeom>
          <a:solidFill>
            <a:srgbClr val="398874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5208"/>
              </a:lnSpc>
              <a:buNone/>
            </a:pPr>
            <a:r>
              <a:rPr lang="en-US" sz="28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−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622800" y="3868440"/>
            <a:ext cx="558800" cy="660400"/>
          </a:xfrm>
          <a:custGeom>
            <a:avLst/>
            <a:gdLst/>
            <a:ahLst/>
            <a:cxnLst/>
            <a:rect l="l" t="t" r="r" b="b"/>
            <a:pathLst>
              <a:path w="558800" h="660400">
                <a:moveTo>
                  <a:pt x="63500" y="0"/>
                </a:moveTo>
                <a:lnTo>
                  <a:pt x="495300" y="0"/>
                </a:lnTo>
                <a:arcTo wR="63500" hR="63500" stAng="16200000" swAng="5400000"/>
                <a:lnTo>
                  <a:pt x="558800" y="596900"/>
                </a:lnTo>
                <a:arcTo wR="63500" hR="63500" stAng="0" swAng="5400000"/>
                <a:lnTo>
                  <a:pt x="63500" y="660400"/>
                </a:lnTo>
                <a:arcTo wR="63500" hR="63500" stAng="5400000" swAng="5400000"/>
                <a:lnTo>
                  <a:pt x="0" y="63500"/>
                </a:lnTo>
                <a:arcTo wR="63500" hR="63500" stAng="10800000" swAng="5400000"/>
                <a:close/>
              </a:path>
            </a:pathLst>
          </a:custGeom>
          <a:solidFill>
            <a:srgbClr val="398874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5208"/>
              </a:lnSpc>
              <a:buNone/>
            </a:pPr>
            <a:r>
              <a:rPr lang="en-US" sz="28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7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257800" y="3868440"/>
            <a:ext cx="558800" cy="660400"/>
          </a:xfrm>
          <a:custGeom>
            <a:avLst/>
            <a:gdLst/>
            <a:ahLst/>
            <a:cxnLst/>
            <a:rect l="l" t="t" r="r" b="b"/>
            <a:pathLst>
              <a:path w="558800" h="660400">
                <a:moveTo>
                  <a:pt x="63500" y="0"/>
                </a:moveTo>
                <a:lnTo>
                  <a:pt x="495300" y="0"/>
                </a:lnTo>
                <a:arcTo wR="63500" hR="63500" stAng="16200000" swAng="5400000"/>
                <a:lnTo>
                  <a:pt x="558800" y="596900"/>
                </a:lnTo>
                <a:arcTo wR="63500" hR="63500" stAng="0" swAng="5400000"/>
                <a:lnTo>
                  <a:pt x="63500" y="660400"/>
                </a:lnTo>
                <a:arcTo wR="63500" hR="63500" stAng="5400000" swAng="5400000"/>
                <a:lnTo>
                  <a:pt x="0" y="63500"/>
                </a:lnTo>
                <a:arcTo wR="63500" hR="63500" stAng="10800000" swAng="5400000"/>
                <a:close/>
              </a:path>
            </a:pathLst>
          </a:custGeom>
          <a:solidFill>
            <a:srgbClr val="398874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5208"/>
              </a:lnSpc>
              <a:buNone/>
            </a:pPr>
            <a:r>
              <a:rPr lang="en-US" sz="28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=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892800" y="3868440"/>
            <a:ext cx="558800" cy="660400"/>
          </a:xfrm>
          <a:custGeom>
            <a:avLst/>
            <a:gdLst/>
            <a:ahLst/>
            <a:cxnLst/>
            <a:rect l="l" t="t" r="r" b="b"/>
            <a:pathLst>
              <a:path w="558800" h="660400">
                <a:moveTo>
                  <a:pt x="63500" y="0"/>
                </a:moveTo>
                <a:lnTo>
                  <a:pt x="495300" y="0"/>
                </a:lnTo>
                <a:arcTo wR="63500" hR="63500" stAng="16200000" swAng="5400000"/>
                <a:lnTo>
                  <a:pt x="558800" y="596900"/>
                </a:lnTo>
                <a:arcTo wR="63500" hR="63500" stAng="0" swAng="5400000"/>
                <a:lnTo>
                  <a:pt x="63500" y="660400"/>
                </a:lnTo>
                <a:arcTo wR="63500" hR="63500" stAng="5400000" swAng="5400000"/>
                <a:lnTo>
                  <a:pt x="0" y="63500"/>
                </a:lnTo>
                <a:arcTo wR="63500" hR="63500" stAng="10800000" swAng="5400000"/>
                <a:close/>
              </a:path>
            </a:pathLst>
          </a:custGeom>
          <a:solidFill>
            <a:srgbClr val="398874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5208"/>
              </a:lnSpc>
              <a:buNone/>
            </a:pPr>
            <a:r>
              <a:rPr lang="en-US" sz="28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4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527800" y="3868440"/>
            <a:ext cx="558800" cy="660400"/>
          </a:xfrm>
          <a:custGeom>
            <a:avLst/>
            <a:gdLst/>
            <a:ahLst/>
            <a:cxnLst/>
            <a:rect l="l" t="t" r="r" b="b"/>
            <a:pathLst>
              <a:path w="558800" h="660400">
                <a:moveTo>
                  <a:pt x="63500" y="0"/>
                </a:moveTo>
                <a:lnTo>
                  <a:pt x="495300" y="0"/>
                </a:lnTo>
                <a:arcTo wR="63500" hR="63500" stAng="16200000" swAng="5400000"/>
                <a:lnTo>
                  <a:pt x="558800" y="596900"/>
                </a:lnTo>
                <a:arcTo wR="63500" hR="63500" stAng="0" swAng="5400000"/>
                <a:lnTo>
                  <a:pt x="63500" y="660400"/>
                </a:lnTo>
                <a:arcTo wR="63500" hR="63500" stAng="5400000" swAng="5400000"/>
                <a:lnTo>
                  <a:pt x="0" y="63500"/>
                </a:lnTo>
                <a:arcTo wR="63500" hR="63500" stAng="10800000" swAng="5400000"/>
                <a:close/>
              </a:path>
            </a:pathLst>
          </a:custGeom>
          <a:solidFill>
            <a:srgbClr val="398874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5208"/>
              </a:lnSpc>
              <a:buNone/>
            </a:pPr>
            <a:r>
              <a:rPr lang="en-US" sz="28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12800" y="579631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B9BC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汇报人：姚浩轩　2026 年 10 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B6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　研究背景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0072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C1F2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Nerdle：猜一个成立的等式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2654350"/>
            <a:ext cx="5703316" cy="675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60"/>
              </a:lnSpc>
              <a:buNone/>
            </a:pPr>
            <a:r>
              <a:rPr lang="en-US" sz="1600" dirty="0">
                <a:solidFill>
                  <a:srgbClr val="2E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Nerdle 是 Wordle 的数学版：玩家要在 </a:t>
            </a:r>
            <a:r>
              <a:rPr lang="en-US" sz="1600" b="1" dirty="0">
                <a:solidFill>
                  <a:srgbClr val="2E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次机会</a:t>
            </a:r>
            <a:r>
              <a:rPr lang="en-US" sz="1600" dirty="0">
                <a:solidFill>
                  <a:srgbClr val="2E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内猜出隐藏的等式，而且每次猜测本身也必须是成立的等式。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3507730"/>
            <a:ext cx="5703316" cy="675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60"/>
              </a:lnSpc>
              <a:buNone/>
            </a:pPr>
            <a:r>
              <a:rPr lang="en-US" sz="1600" dirty="0">
                <a:solidFill>
                  <a:srgbClr val="2E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每猜一次，每个格子都会给出三色反馈，玩家据此不断缩小范围。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4361111"/>
            <a:ext cx="5703316" cy="675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60"/>
              </a:lnSpc>
              <a:buNone/>
            </a:pPr>
            <a:r>
              <a:rPr lang="en-US" sz="1600" dirty="0">
                <a:solidFill>
                  <a:srgbClr val="2E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官方常见的是 8 格。本课题做的是 </a:t>
            </a:r>
            <a:r>
              <a:rPr lang="en-US" sz="1600" b="1" dirty="0">
                <a:solidFill>
                  <a:srgbClr val="2E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格四则运算变体</a:t>
            </a:r>
            <a:r>
              <a:rPr lang="en-US" sz="1600" dirty="0">
                <a:solidFill>
                  <a:srgbClr val="2E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，出题、游戏和自动求解全部在本地完成。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0" y="2447280"/>
            <a:ext cx="465683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答案（揭晓后）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64350" y="2768550"/>
            <a:ext cx="393700" cy="469900"/>
          </a:xfrm>
          <a:custGeom>
            <a:avLst/>
            <a:gdLst/>
            <a:ahLst/>
            <a:cxnLst/>
            <a:rect l="l" t="t" r="r" b="b"/>
            <a:pathLst>
              <a:path w="393700" h="469900">
                <a:moveTo>
                  <a:pt x="44450" y="0"/>
                </a:moveTo>
                <a:lnTo>
                  <a:pt x="349250" y="0"/>
                </a:lnTo>
                <a:arcTo wR="44450" hR="44450" stAng="16200000" swAng="5400000"/>
                <a:lnTo>
                  <a:pt x="393700" y="425450"/>
                </a:lnTo>
                <a:arcTo wR="44450" hR="44450" stAng="0" swAng="5400000"/>
                <a:lnTo>
                  <a:pt x="44450" y="469900"/>
                </a:lnTo>
                <a:arcTo wR="44450" hR="44450" stAng="5400000" swAng="5400000"/>
                <a:lnTo>
                  <a:pt x="0" y="44450"/>
                </a:lnTo>
                <a:arcTo wR="44450" hR="44450" stAng="10800000" swAng="5400000"/>
                <a:close/>
              </a:path>
            </a:pathLst>
          </a:custGeom>
          <a:solidFill>
            <a:srgbClr val="FFFDF8"/>
          </a:solidFill>
          <a:ln w="12700">
            <a:solidFill>
              <a:srgbClr val="CFCABC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2000" b="1" dirty="0">
                <a:solidFill>
                  <a:srgbClr val="1C1F2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21550" y="2768550"/>
            <a:ext cx="393700" cy="469900"/>
          </a:xfrm>
          <a:custGeom>
            <a:avLst/>
            <a:gdLst/>
            <a:ahLst/>
            <a:cxnLst/>
            <a:rect l="l" t="t" r="r" b="b"/>
            <a:pathLst>
              <a:path w="393700" h="469900">
                <a:moveTo>
                  <a:pt x="44450" y="0"/>
                </a:moveTo>
                <a:lnTo>
                  <a:pt x="349250" y="0"/>
                </a:lnTo>
                <a:arcTo wR="44450" hR="44450" stAng="16200000" swAng="5400000"/>
                <a:lnTo>
                  <a:pt x="393700" y="425450"/>
                </a:lnTo>
                <a:arcTo wR="44450" hR="44450" stAng="0" swAng="5400000"/>
                <a:lnTo>
                  <a:pt x="44450" y="469900"/>
                </a:lnTo>
                <a:arcTo wR="44450" hR="44450" stAng="5400000" swAng="5400000"/>
                <a:lnTo>
                  <a:pt x="0" y="44450"/>
                </a:lnTo>
                <a:arcTo wR="44450" hR="44450" stAng="10800000" swAng="5400000"/>
                <a:close/>
              </a:path>
            </a:pathLst>
          </a:custGeom>
          <a:solidFill>
            <a:srgbClr val="FFFDF8"/>
          </a:solidFill>
          <a:ln w="12700">
            <a:solidFill>
              <a:srgbClr val="CFCABC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2000" b="1" dirty="0">
                <a:solidFill>
                  <a:srgbClr val="1C1F2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778750" y="2768550"/>
            <a:ext cx="393700" cy="469900"/>
          </a:xfrm>
          <a:custGeom>
            <a:avLst/>
            <a:gdLst/>
            <a:ahLst/>
            <a:cxnLst/>
            <a:rect l="l" t="t" r="r" b="b"/>
            <a:pathLst>
              <a:path w="393700" h="469900">
                <a:moveTo>
                  <a:pt x="44450" y="0"/>
                </a:moveTo>
                <a:lnTo>
                  <a:pt x="349250" y="0"/>
                </a:lnTo>
                <a:arcTo wR="44450" hR="44450" stAng="16200000" swAng="5400000"/>
                <a:lnTo>
                  <a:pt x="393700" y="425450"/>
                </a:lnTo>
                <a:arcTo wR="44450" hR="44450" stAng="0" swAng="5400000"/>
                <a:lnTo>
                  <a:pt x="44450" y="469900"/>
                </a:lnTo>
                <a:arcTo wR="44450" hR="44450" stAng="5400000" swAng="5400000"/>
                <a:lnTo>
                  <a:pt x="0" y="44450"/>
                </a:lnTo>
                <a:arcTo wR="44450" hR="44450" stAng="10800000" swAng="5400000"/>
                <a:close/>
              </a:path>
            </a:pathLst>
          </a:custGeom>
          <a:solidFill>
            <a:srgbClr val="FFFDF8"/>
          </a:solidFill>
          <a:ln w="12700">
            <a:solidFill>
              <a:srgbClr val="CFCABC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2000" b="1" dirty="0">
                <a:solidFill>
                  <a:srgbClr val="1C1F2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+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35950" y="2768550"/>
            <a:ext cx="393700" cy="469900"/>
          </a:xfrm>
          <a:custGeom>
            <a:avLst/>
            <a:gdLst/>
            <a:ahLst/>
            <a:cxnLst/>
            <a:rect l="l" t="t" r="r" b="b"/>
            <a:pathLst>
              <a:path w="393700" h="469900">
                <a:moveTo>
                  <a:pt x="44450" y="0"/>
                </a:moveTo>
                <a:lnTo>
                  <a:pt x="349250" y="0"/>
                </a:lnTo>
                <a:arcTo wR="44450" hR="44450" stAng="16200000" swAng="5400000"/>
                <a:lnTo>
                  <a:pt x="393700" y="425450"/>
                </a:lnTo>
                <a:arcTo wR="44450" hR="44450" stAng="0" swAng="5400000"/>
                <a:lnTo>
                  <a:pt x="44450" y="469900"/>
                </a:lnTo>
                <a:arcTo wR="44450" hR="44450" stAng="5400000" swAng="5400000"/>
                <a:lnTo>
                  <a:pt x="0" y="44450"/>
                </a:lnTo>
                <a:arcTo wR="44450" hR="44450" stAng="10800000" swAng="5400000"/>
                <a:close/>
              </a:path>
            </a:pathLst>
          </a:custGeom>
          <a:solidFill>
            <a:srgbClr val="FFFDF8"/>
          </a:solidFill>
          <a:ln w="12700">
            <a:solidFill>
              <a:srgbClr val="CFCABC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2000" b="1" dirty="0">
                <a:solidFill>
                  <a:srgbClr val="1C1F2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693150" y="2768550"/>
            <a:ext cx="393700" cy="469900"/>
          </a:xfrm>
          <a:custGeom>
            <a:avLst/>
            <a:gdLst/>
            <a:ahLst/>
            <a:cxnLst/>
            <a:rect l="l" t="t" r="r" b="b"/>
            <a:pathLst>
              <a:path w="393700" h="469900">
                <a:moveTo>
                  <a:pt x="44450" y="0"/>
                </a:moveTo>
                <a:lnTo>
                  <a:pt x="349250" y="0"/>
                </a:lnTo>
                <a:arcTo wR="44450" hR="44450" stAng="16200000" swAng="5400000"/>
                <a:lnTo>
                  <a:pt x="393700" y="425450"/>
                </a:lnTo>
                <a:arcTo wR="44450" hR="44450" stAng="0" swAng="5400000"/>
                <a:lnTo>
                  <a:pt x="44450" y="469900"/>
                </a:lnTo>
                <a:arcTo wR="44450" hR="44450" stAng="5400000" swAng="5400000"/>
                <a:lnTo>
                  <a:pt x="0" y="44450"/>
                </a:lnTo>
                <a:arcTo wR="44450" hR="44450" stAng="10800000" swAng="5400000"/>
                <a:close/>
              </a:path>
            </a:pathLst>
          </a:custGeom>
          <a:solidFill>
            <a:srgbClr val="FFFDF8"/>
          </a:solidFill>
          <a:ln w="12700">
            <a:solidFill>
              <a:srgbClr val="CFCABC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2000" b="1" dirty="0">
                <a:solidFill>
                  <a:srgbClr val="1C1F2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5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150350" y="2768550"/>
            <a:ext cx="393700" cy="469900"/>
          </a:xfrm>
          <a:custGeom>
            <a:avLst/>
            <a:gdLst/>
            <a:ahLst/>
            <a:cxnLst/>
            <a:rect l="l" t="t" r="r" b="b"/>
            <a:pathLst>
              <a:path w="393700" h="469900">
                <a:moveTo>
                  <a:pt x="44450" y="0"/>
                </a:moveTo>
                <a:lnTo>
                  <a:pt x="349250" y="0"/>
                </a:lnTo>
                <a:arcTo wR="44450" hR="44450" stAng="16200000" swAng="5400000"/>
                <a:lnTo>
                  <a:pt x="393700" y="425450"/>
                </a:lnTo>
                <a:arcTo wR="44450" hR="44450" stAng="0" swAng="5400000"/>
                <a:lnTo>
                  <a:pt x="44450" y="469900"/>
                </a:lnTo>
                <a:arcTo wR="44450" hR="44450" stAng="5400000" swAng="5400000"/>
                <a:lnTo>
                  <a:pt x="0" y="44450"/>
                </a:lnTo>
                <a:arcTo wR="44450" hR="44450" stAng="10800000" swAng="5400000"/>
                <a:close/>
              </a:path>
            </a:pathLst>
          </a:custGeom>
          <a:solidFill>
            <a:srgbClr val="FFFDF8"/>
          </a:solidFill>
          <a:ln w="12700">
            <a:solidFill>
              <a:srgbClr val="CFCABC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2000" b="1" dirty="0">
                <a:solidFill>
                  <a:srgbClr val="1C1F2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−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607550" y="2768550"/>
            <a:ext cx="393700" cy="469900"/>
          </a:xfrm>
          <a:custGeom>
            <a:avLst/>
            <a:gdLst/>
            <a:ahLst/>
            <a:cxnLst/>
            <a:rect l="l" t="t" r="r" b="b"/>
            <a:pathLst>
              <a:path w="393700" h="469900">
                <a:moveTo>
                  <a:pt x="44450" y="0"/>
                </a:moveTo>
                <a:lnTo>
                  <a:pt x="349250" y="0"/>
                </a:lnTo>
                <a:arcTo wR="44450" hR="44450" stAng="16200000" swAng="5400000"/>
                <a:lnTo>
                  <a:pt x="393700" y="425450"/>
                </a:lnTo>
                <a:arcTo wR="44450" hR="44450" stAng="0" swAng="5400000"/>
                <a:lnTo>
                  <a:pt x="44450" y="469900"/>
                </a:lnTo>
                <a:arcTo wR="44450" hR="44450" stAng="5400000" swAng="5400000"/>
                <a:lnTo>
                  <a:pt x="0" y="44450"/>
                </a:lnTo>
                <a:arcTo wR="44450" hR="44450" stAng="10800000" swAng="5400000"/>
                <a:close/>
              </a:path>
            </a:pathLst>
          </a:custGeom>
          <a:solidFill>
            <a:srgbClr val="FFFDF8"/>
          </a:solidFill>
          <a:ln w="12700">
            <a:solidFill>
              <a:srgbClr val="CFCABC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2000" b="1" dirty="0">
                <a:solidFill>
                  <a:srgbClr val="1C1F2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7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064750" y="2768550"/>
            <a:ext cx="393700" cy="469900"/>
          </a:xfrm>
          <a:custGeom>
            <a:avLst/>
            <a:gdLst/>
            <a:ahLst/>
            <a:cxnLst/>
            <a:rect l="l" t="t" r="r" b="b"/>
            <a:pathLst>
              <a:path w="393700" h="469900">
                <a:moveTo>
                  <a:pt x="44450" y="0"/>
                </a:moveTo>
                <a:lnTo>
                  <a:pt x="349250" y="0"/>
                </a:lnTo>
                <a:arcTo wR="44450" hR="44450" stAng="16200000" swAng="5400000"/>
                <a:lnTo>
                  <a:pt x="393700" y="425450"/>
                </a:lnTo>
                <a:arcTo wR="44450" hR="44450" stAng="0" swAng="5400000"/>
                <a:lnTo>
                  <a:pt x="44450" y="469900"/>
                </a:lnTo>
                <a:arcTo wR="44450" hR="44450" stAng="5400000" swAng="5400000"/>
                <a:lnTo>
                  <a:pt x="0" y="44450"/>
                </a:lnTo>
                <a:arcTo wR="44450" hR="44450" stAng="10800000" swAng="5400000"/>
                <a:close/>
              </a:path>
            </a:pathLst>
          </a:custGeom>
          <a:solidFill>
            <a:srgbClr val="FFFDF8"/>
          </a:solidFill>
          <a:ln w="12700">
            <a:solidFill>
              <a:srgbClr val="CFCABC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2000" b="1" dirty="0">
                <a:solidFill>
                  <a:srgbClr val="1C1F2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=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521950" y="2768550"/>
            <a:ext cx="393700" cy="469900"/>
          </a:xfrm>
          <a:custGeom>
            <a:avLst/>
            <a:gdLst/>
            <a:ahLst/>
            <a:cxnLst/>
            <a:rect l="l" t="t" r="r" b="b"/>
            <a:pathLst>
              <a:path w="393700" h="469900">
                <a:moveTo>
                  <a:pt x="44450" y="0"/>
                </a:moveTo>
                <a:lnTo>
                  <a:pt x="349250" y="0"/>
                </a:lnTo>
                <a:arcTo wR="44450" hR="44450" stAng="16200000" swAng="5400000"/>
                <a:lnTo>
                  <a:pt x="393700" y="425450"/>
                </a:lnTo>
                <a:arcTo wR="44450" hR="44450" stAng="0" swAng="5400000"/>
                <a:lnTo>
                  <a:pt x="44450" y="469900"/>
                </a:lnTo>
                <a:arcTo wR="44450" hR="44450" stAng="5400000" swAng="5400000"/>
                <a:lnTo>
                  <a:pt x="0" y="44450"/>
                </a:lnTo>
                <a:arcTo wR="44450" hR="44450" stAng="10800000" swAng="5400000"/>
                <a:close/>
              </a:path>
            </a:pathLst>
          </a:custGeom>
          <a:solidFill>
            <a:srgbClr val="FFFDF8"/>
          </a:solidFill>
          <a:ln w="12700">
            <a:solidFill>
              <a:srgbClr val="CFCABC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2000" b="1" dirty="0">
                <a:solidFill>
                  <a:srgbClr val="1C1F2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0979150" y="2768550"/>
            <a:ext cx="393700" cy="469900"/>
          </a:xfrm>
          <a:custGeom>
            <a:avLst/>
            <a:gdLst/>
            <a:ahLst/>
            <a:cxnLst/>
            <a:rect l="l" t="t" r="r" b="b"/>
            <a:pathLst>
              <a:path w="393700" h="469900">
                <a:moveTo>
                  <a:pt x="44450" y="0"/>
                </a:moveTo>
                <a:lnTo>
                  <a:pt x="349250" y="0"/>
                </a:lnTo>
                <a:arcTo wR="44450" hR="44450" stAng="16200000" swAng="5400000"/>
                <a:lnTo>
                  <a:pt x="393700" y="425450"/>
                </a:lnTo>
                <a:arcTo wR="44450" hR="44450" stAng="0" swAng="5400000"/>
                <a:lnTo>
                  <a:pt x="44450" y="469900"/>
                </a:lnTo>
                <a:arcTo wR="44450" hR="44450" stAng="5400000" swAng="5400000"/>
                <a:lnTo>
                  <a:pt x="0" y="44450"/>
                </a:lnTo>
                <a:arcTo wR="44450" hR="44450" stAng="10800000" swAng="5400000"/>
                <a:close/>
              </a:path>
            </a:pathLst>
          </a:custGeom>
          <a:solidFill>
            <a:srgbClr val="FFFDF8"/>
          </a:solidFill>
          <a:ln w="12700">
            <a:solidFill>
              <a:srgbClr val="CFCABC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2000" b="1" dirty="0">
                <a:solidFill>
                  <a:srgbClr val="1C1F2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858000" y="3346400"/>
            <a:ext cx="465683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1 次猜测及反馈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0" y="3661321"/>
            <a:ext cx="406400" cy="482600"/>
          </a:xfrm>
          <a:custGeom>
            <a:avLst/>
            <a:gdLst/>
            <a:ahLst/>
            <a:cxnLst/>
            <a:rect l="l" t="t" r="r" b="b"/>
            <a:pathLst>
              <a:path w="406400" h="482600">
                <a:moveTo>
                  <a:pt x="50800" y="0"/>
                </a:moveTo>
                <a:lnTo>
                  <a:pt x="355600" y="0"/>
                </a:lnTo>
                <a:arcTo wR="50800" hR="50800" stAng="16200000" swAng="5400000"/>
                <a:lnTo>
                  <a:pt x="406400" y="431800"/>
                </a:lnTo>
                <a:arcTo wR="50800" hR="50800" stAng="0" swAng="5400000"/>
                <a:lnTo>
                  <a:pt x="50800" y="48260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820458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20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5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0" y="3661321"/>
            <a:ext cx="406400" cy="482600"/>
          </a:xfrm>
          <a:custGeom>
            <a:avLst/>
            <a:gdLst/>
            <a:ahLst/>
            <a:cxnLst/>
            <a:rect l="l" t="t" r="r" b="b"/>
            <a:pathLst>
              <a:path w="406400" h="482600">
                <a:moveTo>
                  <a:pt x="50800" y="0"/>
                </a:moveTo>
                <a:lnTo>
                  <a:pt x="355600" y="0"/>
                </a:lnTo>
                <a:arcTo wR="50800" hR="50800" stAng="16200000" swAng="5400000"/>
                <a:lnTo>
                  <a:pt x="406400" y="431800"/>
                </a:lnTo>
                <a:arcTo wR="50800" hR="50800" stAng="0" swAng="5400000"/>
                <a:lnTo>
                  <a:pt x="50800" y="48260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161803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20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6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772400" y="3661321"/>
            <a:ext cx="406400" cy="482600"/>
          </a:xfrm>
          <a:custGeom>
            <a:avLst/>
            <a:gdLst/>
            <a:ahLst/>
            <a:cxnLst/>
            <a:rect l="l" t="t" r="r" b="b"/>
            <a:pathLst>
              <a:path w="406400" h="482600">
                <a:moveTo>
                  <a:pt x="50800" y="0"/>
                </a:moveTo>
                <a:lnTo>
                  <a:pt x="355600" y="0"/>
                </a:lnTo>
                <a:arcTo wR="50800" hR="50800" stAng="16200000" swAng="5400000"/>
                <a:lnTo>
                  <a:pt x="406400" y="431800"/>
                </a:lnTo>
                <a:arcTo wR="50800" hR="50800" stAng="0" swAng="5400000"/>
                <a:lnTo>
                  <a:pt x="50800" y="48260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398874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20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+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229600" y="3661321"/>
            <a:ext cx="406400" cy="482600"/>
          </a:xfrm>
          <a:custGeom>
            <a:avLst/>
            <a:gdLst/>
            <a:ahLst/>
            <a:cxnLst/>
            <a:rect l="l" t="t" r="r" b="b"/>
            <a:pathLst>
              <a:path w="406400" h="482600">
                <a:moveTo>
                  <a:pt x="50800" y="0"/>
                </a:moveTo>
                <a:lnTo>
                  <a:pt x="355600" y="0"/>
                </a:lnTo>
                <a:arcTo wR="50800" hR="50800" stAng="16200000" swAng="5400000"/>
                <a:lnTo>
                  <a:pt x="406400" y="431800"/>
                </a:lnTo>
                <a:arcTo wR="50800" hR="50800" stAng="0" swAng="5400000"/>
                <a:lnTo>
                  <a:pt x="50800" y="48260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820458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20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686800" y="3661321"/>
            <a:ext cx="406400" cy="482600"/>
          </a:xfrm>
          <a:custGeom>
            <a:avLst/>
            <a:gdLst/>
            <a:ahLst/>
            <a:cxnLst/>
            <a:rect l="l" t="t" r="r" b="b"/>
            <a:pathLst>
              <a:path w="406400" h="482600">
                <a:moveTo>
                  <a:pt x="50800" y="0"/>
                </a:moveTo>
                <a:lnTo>
                  <a:pt x="355600" y="0"/>
                </a:lnTo>
                <a:arcTo wR="50800" hR="50800" stAng="16200000" swAng="5400000"/>
                <a:lnTo>
                  <a:pt x="406400" y="431800"/>
                </a:lnTo>
                <a:arcTo wR="50800" hR="50800" stAng="0" swAng="5400000"/>
                <a:lnTo>
                  <a:pt x="50800" y="48260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820458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20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−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144000" y="3661321"/>
            <a:ext cx="406400" cy="482600"/>
          </a:xfrm>
          <a:custGeom>
            <a:avLst/>
            <a:gdLst/>
            <a:ahLst/>
            <a:cxnLst/>
            <a:rect l="l" t="t" r="r" b="b"/>
            <a:pathLst>
              <a:path w="406400" h="482600">
                <a:moveTo>
                  <a:pt x="50800" y="0"/>
                </a:moveTo>
                <a:lnTo>
                  <a:pt x="355600" y="0"/>
                </a:lnTo>
                <a:arcTo wR="50800" hR="50800" stAng="16200000" swAng="5400000"/>
                <a:lnTo>
                  <a:pt x="406400" y="431800"/>
                </a:lnTo>
                <a:arcTo wR="50800" hR="50800" stAng="0" swAng="5400000"/>
                <a:lnTo>
                  <a:pt x="50800" y="48260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820458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20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0" y="3661321"/>
            <a:ext cx="406400" cy="482600"/>
          </a:xfrm>
          <a:custGeom>
            <a:avLst/>
            <a:gdLst/>
            <a:ahLst/>
            <a:cxnLst/>
            <a:rect l="l" t="t" r="r" b="b"/>
            <a:pathLst>
              <a:path w="406400" h="482600">
                <a:moveTo>
                  <a:pt x="50800" y="0"/>
                </a:moveTo>
                <a:lnTo>
                  <a:pt x="355600" y="0"/>
                </a:lnTo>
                <a:arcTo wR="50800" hR="50800" stAng="16200000" swAng="5400000"/>
                <a:lnTo>
                  <a:pt x="406400" y="431800"/>
                </a:lnTo>
                <a:arcTo wR="50800" hR="50800" stAng="0" swAng="5400000"/>
                <a:lnTo>
                  <a:pt x="50800" y="48260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820458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20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0058400" y="3661321"/>
            <a:ext cx="406400" cy="482600"/>
          </a:xfrm>
          <a:custGeom>
            <a:avLst/>
            <a:gdLst/>
            <a:ahLst/>
            <a:cxnLst/>
            <a:rect l="l" t="t" r="r" b="b"/>
            <a:pathLst>
              <a:path w="406400" h="482600">
                <a:moveTo>
                  <a:pt x="50800" y="0"/>
                </a:moveTo>
                <a:lnTo>
                  <a:pt x="355600" y="0"/>
                </a:lnTo>
                <a:arcTo wR="50800" hR="50800" stAng="16200000" swAng="5400000"/>
                <a:lnTo>
                  <a:pt x="406400" y="431800"/>
                </a:lnTo>
                <a:arcTo wR="50800" hR="50800" stAng="0" swAng="5400000"/>
                <a:lnTo>
                  <a:pt x="50800" y="48260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398874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20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=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0515600" y="3661321"/>
            <a:ext cx="406400" cy="482600"/>
          </a:xfrm>
          <a:custGeom>
            <a:avLst/>
            <a:gdLst/>
            <a:ahLst/>
            <a:cxnLst/>
            <a:rect l="l" t="t" r="r" b="b"/>
            <a:pathLst>
              <a:path w="406400" h="482600">
                <a:moveTo>
                  <a:pt x="50800" y="0"/>
                </a:moveTo>
                <a:lnTo>
                  <a:pt x="355600" y="0"/>
                </a:lnTo>
                <a:arcTo wR="50800" hR="50800" stAng="16200000" swAng="5400000"/>
                <a:lnTo>
                  <a:pt x="406400" y="431800"/>
                </a:lnTo>
                <a:arcTo wR="50800" hR="50800" stAng="0" swAng="5400000"/>
                <a:lnTo>
                  <a:pt x="50800" y="48260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820458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20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0972800" y="3661321"/>
            <a:ext cx="406400" cy="482600"/>
          </a:xfrm>
          <a:custGeom>
            <a:avLst/>
            <a:gdLst/>
            <a:ahLst/>
            <a:cxnLst/>
            <a:rect l="l" t="t" r="r" b="b"/>
            <a:pathLst>
              <a:path w="406400" h="482600">
                <a:moveTo>
                  <a:pt x="50800" y="0"/>
                </a:moveTo>
                <a:lnTo>
                  <a:pt x="355600" y="0"/>
                </a:lnTo>
                <a:arcTo wR="50800" hR="50800" stAng="16200000" swAng="5400000"/>
                <a:lnTo>
                  <a:pt x="406400" y="431800"/>
                </a:lnTo>
                <a:arcTo wR="50800" hR="50800" stAng="0" swAng="5400000"/>
                <a:lnTo>
                  <a:pt x="50800" y="48260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161803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20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9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858000" y="4386461"/>
            <a:ext cx="203200" cy="203200"/>
          </a:xfrm>
          <a:prstGeom prst="roundRect">
            <a:avLst>
              <a:gd name="adj" fmla="val 18750"/>
            </a:avLst>
          </a:prstGeom>
          <a:solidFill>
            <a:srgbClr val="398874"/>
          </a:solidFill>
          <a:ln/>
        </p:spPr>
      </p:sp>
      <p:sp>
        <p:nvSpPr>
          <p:cNvPr id="30" name="Text 28"/>
          <p:cNvSpPr/>
          <p:nvPr/>
        </p:nvSpPr>
        <p:spPr>
          <a:xfrm>
            <a:off x="7162800" y="4372521"/>
            <a:ext cx="178308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E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绿</a:t>
            </a:r>
            <a:r>
              <a:rPr lang="en-US" sz="1300" dirty="0">
                <a:solidFill>
                  <a:srgbClr val="2E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：字符和位置都对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858000" y="4693791"/>
            <a:ext cx="203200" cy="203200"/>
          </a:xfrm>
          <a:prstGeom prst="roundRect">
            <a:avLst>
              <a:gd name="adj" fmla="val 18750"/>
            </a:avLst>
          </a:prstGeom>
          <a:solidFill>
            <a:srgbClr val="820458"/>
          </a:solidFill>
          <a:ln/>
        </p:spPr>
      </p:sp>
      <p:sp>
        <p:nvSpPr>
          <p:cNvPr id="32" name="Text 30"/>
          <p:cNvSpPr/>
          <p:nvPr/>
        </p:nvSpPr>
        <p:spPr>
          <a:xfrm>
            <a:off x="7162800" y="4679851"/>
            <a:ext cx="316992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E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紫</a:t>
            </a:r>
            <a:r>
              <a:rPr lang="en-US" sz="1300" dirty="0">
                <a:solidFill>
                  <a:srgbClr val="2E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：答案里有这个字符，但位置不对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858000" y="5001121"/>
            <a:ext cx="203200" cy="203200"/>
          </a:xfrm>
          <a:prstGeom prst="roundRect">
            <a:avLst>
              <a:gd name="adj" fmla="val 18750"/>
            </a:avLst>
          </a:prstGeom>
          <a:solidFill>
            <a:srgbClr val="161803"/>
          </a:solidFill>
          <a:ln/>
        </p:spPr>
      </p:sp>
      <p:sp>
        <p:nvSpPr>
          <p:cNvPr id="34" name="Text 32"/>
          <p:cNvSpPr/>
          <p:nvPr/>
        </p:nvSpPr>
        <p:spPr>
          <a:xfrm>
            <a:off x="7162800" y="4987181"/>
            <a:ext cx="217932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E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黑</a:t>
            </a:r>
            <a:r>
              <a:rPr lang="en-US" sz="1300" dirty="0">
                <a:solidFill>
                  <a:srgbClr val="2E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：答案里没有这个字符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12800" y="62382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Nerdle 10 格 · 开题汇报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6F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02 / 13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B6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　问题定义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0072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C1F2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10 格规则与题库规模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23641"/>
            <a:ext cx="672363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2E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字符</a:t>
            </a:r>
            <a:r>
              <a:rPr lang="en-US" sz="1400" dirty="0">
                <a:solidFill>
                  <a:srgbClr val="2E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数字 0–9、+ − × ÷ 和恰好一个 =，共 10 格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2230041"/>
            <a:ext cx="672363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2E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运算</a:t>
            </a:r>
            <a:r>
              <a:rPr lang="en-US" sz="1400" dirty="0">
                <a:solidFill>
                  <a:srgbClr val="2E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先乘除后加减；中间结果可以是分数或负数，用精确有理数计算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636441"/>
            <a:ext cx="672363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2E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等号两侧</a:t>
            </a:r>
            <a:r>
              <a:rPr lang="en-US" sz="1400" dirty="0">
                <a:solidFill>
                  <a:srgbClr val="2E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左边至少一个运算符；右边是非负整数，可以为 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2800" y="3042841"/>
            <a:ext cx="672363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2E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数字写法</a:t>
            </a:r>
            <a:r>
              <a:rPr lang="en-US" sz="1400" dirty="0">
                <a:solidFill>
                  <a:srgbClr val="2E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不能有前导零（如 05），左边不能出现单独的 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3449241"/>
            <a:ext cx="672363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2E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反馈</a:t>
            </a:r>
            <a:r>
              <a:rPr lang="en-US" sz="1400" dirty="0">
                <a:solidFill>
                  <a:srgbClr val="2E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6 次机会；重复字符先标绿，再按答案里剩余的个数标紫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2800" y="3855641"/>
            <a:ext cx="672363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2E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交换律等价</a:t>
            </a:r>
            <a:r>
              <a:rPr lang="en-US" sz="1400" dirty="0">
                <a:solidFill>
                  <a:srgbClr val="2E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与答案只差加法项或乘法因子的顺序也算猜中（可关闭），如 35−7+12=40 与 12+35−7=40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69250" y="1823641"/>
            <a:ext cx="0" cy="833090"/>
          </a:xfrm>
          <a:prstGeom prst="line">
            <a:avLst/>
          </a:prstGeom>
          <a:noFill/>
          <a:ln w="38100">
            <a:solidFill>
              <a:srgbClr val="3988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91500" y="1849041"/>
            <a:ext cx="3283331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2B6E5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1,404,041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191500" y="2400201"/>
            <a:ext cx="3283331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格合法等式（完整枚举）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69250" y="2910731"/>
            <a:ext cx="0" cy="833090"/>
          </a:xfrm>
          <a:prstGeom prst="line">
            <a:avLst/>
          </a:prstGeom>
          <a:noFill/>
          <a:ln w="38100">
            <a:solidFill>
              <a:srgbClr val="8204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91500" y="2936131"/>
            <a:ext cx="3283331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82045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589,898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8191500" y="3487291"/>
            <a:ext cx="3283331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交换律等价类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69250" y="3997821"/>
            <a:ext cx="0" cy="1064220"/>
          </a:xfrm>
          <a:prstGeom prst="line">
            <a:avLst/>
          </a:prstGeom>
          <a:noFill/>
          <a:ln w="38100">
            <a:solidFill>
              <a:srgbClr val="1C1F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91500" y="4023221"/>
            <a:ext cx="3283331" cy="55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1C1F2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17,723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8191500" y="4574381"/>
            <a:ext cx="3283331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同规则下的 8 格题库，与公开数字一致，说明规则口径正确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Nerdle 10 格 · 开题汇报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6F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03 / 13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B6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　研究内容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0072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C1F2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三项核心任务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779191"/>
            <a:ext cx="3373934" cy="2590800"/>
          </a:xfrm>
          <a:prstGeom prst="roundRect">
            <a:avLst>
              <a:gd name="adj" fmla="val 3676"/>
            </a:avLst>
          </a:prstGeom>
          <a:solidFill>
            <a:srgbClr val="FFFDF8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4100" y="2014141"/>
            <a:ext cx="299115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C1F2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本地出题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54100" y="2420541"/>
            <a:ext cx="2991155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2E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每日一题：日期经 SplitMix64 生成种子，同一天同一题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4100" y="3017441"/>
            <a:ext cx="2991155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2E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随机或按难度出题，按交换律等价类均匀抽取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4100" y="3614341"/>
            <a:ext cx="2991155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2E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分享码：NB- 加 10 位 base32，带校验位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08984" y="1779191"/>
            <a:ext cx="3373983" cy="2590800"/>
          </a:xfrm>
          <a:prstGeom prst="roundRect">
            <a:avLst>
              <a:gd name="adj" fmla="val 3676"/>
            </a:avLst>
          </a:prstGeom>
          <a:solidFill>
            <a:srgbClr val="FFFDF8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43934" y="2014141"/>
            <a:ext cx="299120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C1F2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人工解题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43934" y="2420541"/>
            <a:ext cx="2991206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2E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跨平台终端版：Linux、macOS、BSD、Windows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43934" y="3017441"/>
            <a:ext cx="2991206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2E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彩色方块界面，屏幕键盘按反馈着色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43934" y="3366691"/>
            <a:ext cx="2991206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2E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辅助模式：输入自己的猜测和颜色，程序给出推荐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98867" y="1779191"/>
            <a:ext cx="3373983" cy="2590800"/>
          </a:xfrm>
          <a:prstGeom prst="roundRect">
            <a:avLst>
              <a:gd name="adj" fmla="val 3676"/>
            </a:avLst>
          </a:prstGeom>
          <a:solidFill>
            <a:srgbClr val="FFFDF8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33817" y="2014141"/>
            <a:ext cx="299120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C1F2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机器解题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233817" y="2420541"/>
            <a:ext cx="2991206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2E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枚举加信息论：9 种策略 E1–E9 与开局库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33817" y="3017441"/>
            <a:ext cx="2991206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2E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机器学习（加分项）：ML-1 至 ML-4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33817" y="3366691"/>
            <a:ext cx="2991206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2E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目标：平均步数尽量少，6 步内全部解出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2800" y="4744641"/>
            <a:ext cx="7620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B6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扩展目标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574800" y="4681141"/>
            <a:ext cx="3438079" cy="358130"/>
          </a:xfrm>
          <a:prstGeom prst="roundRect">
            <a:avLst>
              <a:gd name="adj" fmla="val 49647"/>
            </a:avLst>
          </a:prstGeom>
          <a:solidFill>
            <a:srgbClr val="E9E5D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2E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macOS 接口：nerdle.h + SwiftPM CNerdle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14479" y="4681141"/>
            <a:ext cx="2838500" cy="358130"/>
          </a:xfrm>
          <a:prstGeom prst="roundRect">
            <a:avLst>
              <a:gd name="adj" fmla="val 49647"/>
            </a:avLst>
          </a:prstGeom>
          <a:solidFill>
            <a:srgbClr val="E9E5D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2E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通用 Computer Use + MCP 服务器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54578" y="4681141"/>
            <a:ext cx="1720602" cy="358130"/>
          </a:xfrm>
          <a:prstGeom prst="roundRect">
            <a:avLst>
              <a:gd name="adj" fmla="val 49647"/>
            </a:avLst>
          </a:prstGeom>
          <a:solidFill>
            <a:srgbClr val="E9E5D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2E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ManimGL 讲解动画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12800" y="62382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Nerdle 10 格 · 开题汇报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6F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04 / 13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B6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　总体设计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0072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C1F2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一个 C 核心，多端复用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911350"/>
            <a:ext cx="1917700" cy="1384300"/>
          </a:xfrm>
          <a:prstGeom prst="roundRect">
            <a:avLst>
              <a:gd name="adj" fmla="val 6881"/>
            </a:avLst>
          </a:prstGeom>
          <a:solidFill>
            <a:srgbClr val="FFFDF8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0600" y="2082800"/>
            <a:ext cx="162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C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终端版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90600" y="2374900"/>
            <a:ext cx="162560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语言实现，支持 Linux · macOS · BSD · Windows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78150" y="1911350"/>
            <a:ext cx="1917700" cy="1384300"/>
          </a:xfrm>
          <a:prstGeom prst="roundRect">
            <a:avLst>
              <a:gd name="adj" fmla="val 6881"/>
            </a:avLst>
          </a:prstGeom>
          <a:solidFill>
            <a:srgbClr val="FFFDF8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49600" y="2082800"/>
            <a:ext cx="162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C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macOS 接口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149600" y="2374900"/>
            <a:ext cx="16256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公开头文件 nerdle.h，SwiftPM 模块 CNerdle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137150" y="1911350"/>
            <a:ext cx="1917700" cy="1384300"/>
          </a:xfrm>
          <a:prstGeom prst="roundRect">
            <a:avLst>
              <a:gd name="adj" fmla="val 6881"/>
            </a:avLst>
          </a:prstGeom>
          <a:solidFill>
            <a:srgbClr val="FFFDF8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8600" y="2082800"/>
            <a:ext cx="162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C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机器学习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308600" y="2374900"/>
            <a:ext cx="162560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经 ctypes 调用，PyTorch 训练，权重交回 C 推理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296150" y="1911350"/>
            <a:ext cx="1917700" cy="1384300"/>
          </a:xfrm>
          <a:prstGeom prst="roundRect">
            <a:avLst>
              <a:gd name="adj" fmla="val 6881"/>
            </a:avLst>
          </a:prstGeom>
          <a:solidFill>
            <a:srgbClr val="FFFDF8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67600" y="2082800"/>
            <a:ext cx="162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C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讲解动画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467600" y="2374900"/>
            <a:ext cx="16256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ManimGL 场景，数字全部来自导出的 JSON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455150" y="1911350"/>
            <a:ext cx="1917700" cy="1384300"/>
          </a:xfrm>
          <a:prstGeom prst="roundRect">
            <a:avLst>
              <a:gd name="adj" fmla="val 6881"/>
            </a:avLst>
          </a:prstGeom>
          <a:solidFill>
            <a:srgbClr val="FFFDF8"/>
          </a:solidFill>
          <a:ln w="12700">
            <a:solidFill>
              <a:srgbClr val="A9A392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9626600" y="2082800"/>
            <a:ext cx="162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C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Use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26600" y="2374900"/>
            <a:ext cx="16256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Swift 库、cu 命令行、cu-mcp 服务器</a:t>
            </a:r>
            <a:endParaRPr lang="en-US" sz="1200" dirty="0"/>
          </a:p>
        </p:txBody>
      </p:sp>
      <p:pic>
        <p:nvPicPr>
          <p:cNvPr id="19" name="Image 0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727200" y="3251200"/>
            <a:ext cx="101600" cy="736600"/>
          </a:xfrm>
          <a:prstGeom prst="rect">
            <a:avLst/>
          </a:prstGeom>
        </p:spPr>
      </p:pic>
      <p:pic>
        <p:nvPicPr>
          <p:cNvPr id="20" name="Image 1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86200" y="3251200"/>
            <a:ext cx="101600" cy="736600"/>
          </a:xfrm>
          <a:prstGeom prst="rect">
            <a:avLst/>
          </a:prstGeom>
        </p:spPr>
      </p:pic>
      <p:pic>
        <p:nvPicPr>
          <p:cNvPr id="21" name="Image 2" descr="connector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45200" y="3251200"/>
            <a:ext cx="101600" cy="736600"/>
          </a:xfrm>
          <a:prstGeom prst="rect">
            <a:avLst/>
          </a:prstGeom>
        </p:spPr>
      </p:pic>
      <p:pic>
        <p:nvPicPr>
          <p:cNvPr id="22" name="Image 3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04200" y="3251200"/>
            <a:ext cx="101600" cy="736600"/>
          </a:xfrm>
          <a:prstGeom prst="rect">
            <a:avLst/>
          </a:prstGeom>
        </p:spPr>
      </p:pic>
      <p:pic>
        <p:nvPicPr>
          <p:cNvPr id="23" name="Image 4" descr="connector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363200" y="3251200"/>
            <a:ext cx="101600" cy="73660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12800" y="3937000"/>
            <a:ext cx="10566400" cy="1244600"/>
          </a:xfrm>
          <a:prstGeom prst="roundRect">
            <a:avLst>
              <a:gd name="adj" fmla="val 8163"/>
            </a:avLst>
          </a:prstGeom>
          <a:solidFill>
            <a:srgbClr val="1C1F2A"/>
          </a:solidFill>
          <a:ln/>
        </p:spPr>
      </p:sp>
      <p:sp>
        <p:nvSpPr>
          <p:cNvPr id="25" name="Text 18"/>
          <p:cNvSpPr/>
          <p:nvPr/>
        </p:nvSpPr>
        <p:spPr>
          <a:xfrm>
            <a:off x="1066800" y="4140200"/>
            <a:ext cx="10360152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2EFE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C11 核心 libnerdle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1066800" y="4541490"/>
            <a:ext cx="990600" cy="314920"/>
          </a:xfrm>
          <a:prstGeom prst="roundRect">
            <a:avLst>
              <a:gd name="adj" fmla="val 16131"/>
            </a:avLst>
          </a:prstGeom>
          <a:solidFill>
            <a:srgbClr val="2E324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E6E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规则与枚举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2133600" y="4541490"/>
            <a:ext cx="990600" cy="314920"/>
          </a:xfrm>
          <a:prstGeom prst="roundRect">
            <a:avLst>
              <a:gd name="adj" fmla="val 16131"/>
            </a:avLst>
          </a:prstGeom>
          <a:solidFill>
            <a:srgbClr val="2E324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E6E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反馈与过滤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200400" y="4541490"/>
            <a:ext cx="990600" cy="314920"/>
          </a:xfrm>
          <a:prstGeom prst="roundRect">
            <a:avLst>
              <a:gd name="adj" fmla="val 16131"/>
            </a:avLst>
          </a:prstGeom>
          <a:solidFill>
            <a:srgbClr val="2E324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E6E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交换律等价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4267200" y="4541490"/>
            <a:ext cx="1143000" cy="314920"/>
          </a:xfrm>
          <a:prstGeom prst="roundRect">
            <a:avLst>
              <a:gd name="adj" fmla="val 16131"/>
            </a:avLst>
          </a:prstGeom>
          <a:solidFill>
            <a:srgbClr val="2E324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E6E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出题与分享码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5486400" y="4541490"/>
            <a:ext cx="1185714" cy="314920"/>
          </a:xfrm>
          <a:prstGeom prst="roundRect">
            <a:avLst>
              <a:gd name="adj" fmla="val 16131"/>
            </a:avLst>
          </a:prstGeom>
          <a:solidFill>
            <a:srgbClr val="2E324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E6E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求解器 E1–E9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6748314" y="4541490"/>
            <a:ext cx="685800" cy="314920"/>
          </a:xfrm>
          <a:prstGeom prst="roundRect">
            <a:avLst>
              <a:gd name="adj" fmla="val 16131"/>
            </a:avLst>
          </a:prstGeom>
          <a:solidFill>
            <a:srgbClr val="2E324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E6E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开局库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7510314" y="4541490"/>
            <a:ext cx="886371" cy="314920"/>
          </a:xfrm>
          <a:prstGeom prst="roundRect">
            <a:avLst>
              <a:gd name="adj" fmla="val 16131"/>
            </a:avLst>
          </a:prstGeom>
          <a:solidFill>
            <a:srgbClr val="2E324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E6E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 推理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8472884" y="4541490"/>
            <a:ext cx="685800" cy="314920"/>
          </a:xfrm>
          <a:prstGeom prst="roundRect">
            <a:avLst>
              <a:gd name="adj" fmla="val 16131"/>
            </a:avLst>
          </a:prstGeom>
          <a:solidFill>
            <a:srgbClr val="2E324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E6E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多线程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812800" y="5372100"/>
            <a:ext cx="10883392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终端直接链接；Swift 经 CNerdle 模块；Python 经 ctypes；Manim 读取导出数据。虚线：Computer Use 是通用能力，只借 CNerdle 提供 nerdle_* 演示工具。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812800" y="62382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Nerdle 10 格 · 开题汇报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6F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05 / 13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B9662DC-EF18-7BA1-CD0B-73D493421D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238" y="268013"/>
            <a:ext cx="7499875" cy="460878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08C52B5-6474-F319-3593-359D4BCE1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035" y="2737309"/>
            <a:ext cx="6127532" cy="384742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319049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CDAB24-BE8F-83D9-0306-575851F83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1C7F47-637A-5940-2673-E6A1BC32C482}"/>
              </a:ext>
            </a:extLst>
          </p:cNvPr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CBAC5AC-EDE1-8BAC-9DDD-12F3EFB86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4528" y="-157655"/>
            <a:ext cx="12480099" cy="7590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53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6FC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　解题思路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0072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F2EFE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每一步，把候选集切小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2614910"/>
            <a:ext cx="62527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9BC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 12+35−7=40 · E4 策略实际对局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" y="2955230"/>
            <a:ext cx="381000" cy="457200"/>
          </a:xfrm>
          <a:custGeom>
            <a:avLst/>
            <a:gdLst/>
            <a:ahLst/>
            <a:cxnLst/>
            <a:rect l="l" t="t" r="r" b="b"/>
            <a:pathLst>
              <a:path w="381000" h="457200">
                <a:moveTo>
                  <a:pt x="50800" y="0"/>
                </a:moveTo>
                <a:lnTo>
                  <a:pt x="330200" y="0"/>
                </a:lnTo>
                <a:arcTo wR="50800" hR="50800" stAng="16200000" swAng="5400000"/>
                <a:lnTo>
                  <a:pt x="381000" y="406400"/>
                </a:lnTo>
                <a:arcTo wR="50800" hR="50800" stAng="0" swAng="5400000"/>
                <a:lnTo>
                  <a:pt x="50800" y="45720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820458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50950" y="2961580"/>
            <a:ext cx="368300" cy="444500"/>
          </a:xfrm>
          <a:custGeom>
            <a:avLst/>
            <a:gdLst/>
            <a:ahLst/>
            <a:cxnLst/>
            <a:rect l="l" t="t" r="r" b="b"/>
            <a:pathLst>
              <a:path w="368300" h="444500">
                <a:moveTo>
                  <a:pt x="44450" y="0"/>
                </a:moveTo>
                <a:lnTo>
                  <a:pt x="323850" y="0"/>
                </a:lnTo>
                <a:arcTo wR="44450" hR="44450" stAng="16200000" swAng="5400000"/>
                <a:lnTo>
                  <a:pt x="368300" y="400050"/>
                </a:lnTo>
                <a:arcTo wR="44450" hR="44450" stAng="0" swAng="5400000"/>
                <a:lnTo>
                  <a:pt x="44450" y="444500"/>
                </a:lnTo>
                <a:arcTo wR="44450" hR="44450" stAng="5400000" swAng="5400000"/>
                <a:lnTo>
                  <a:pt x="0" y="44450"/>
                </a:lnTo>
                <a:arcTo wR="44450" hR="44450" stAng="10800000" swAng="5400000"/>
                <a:close/>
              </a:path>
            </a:pathLst>
          </a:custGeom>
          <a:solidFill>
            <a:srgbClr val="161803"/>
          </a:solidFill>
          <a:ln w="12700">
            <a:solidFill>
              <a:srgbClr val="4A4E5C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3402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6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76400" y="2955230"/>
            <a:ext cx="381000" cy="457200"/>
          </a:xfrm>
          <a:custGeom>
            <a:avLst/>
            <a:gdLst/>
            <a:ahLst/>
            <a:cxnLst/>
            <a:rect l="l" t="t" r="r" b="b"/>
            <a:pathLst>
              <a:path w="381000" h="457200">
                <a:moveTo>
                  <a:pt x="50800" y="0"/>
                </a:moveTo>
                <a:lnTo>
                  <a:pt x="330200" y="0"/>
                </a:lnTo>
                <a:arcTo wR="50800" hR="50800" stAng="16200000" swAng="5400000"/>
                <a:lnTo>
                  <a:pt x="381000" y="406400"/>
                </a:lnTo>
                <a:arcTo wR="50800" hR="50800" stAng="0" swAng="5400000"/>
                <a:lnTo>
                  <a:pt x="50800" y="45720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398874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+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108200" y="2955230"/>
            <a:ext cx="381000" cy="457200"/>
          </a:xfrm>
          <a:custGeom>
            <a:avLst/>
            <a:gdLst/>
            <a:ahLst/>
            <a:cxnLst/>
            <a:rect l="l" t="t" r="r" b="b"/>
            <a:pathLst>
              <a:path w="381000" h="457200">
                <a:moveTo>
                  <a:pt x="50800" y="0"/>
                </a:moveTo>
                <a:lnTo>
                  <a:pt x="330200" y="0"/>
                </a:lnTo>
                <a:arcTo wR="50800" hR="50800" stAng="16200000" swAng="5400000"/>
                <a:lnTo>
                  <a:pt x="381000" y="406400"/>
                </a:lnTo>
                <a:arcTo wR="50800" hR="50800" stAng="0" swAng="5400000"/>
                <a:lnTo>
                  <a:pt x="50800" y="45720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820458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4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540000" y="2955230"/>
            <a:ext cx="381000" cy="457200"/>
          </a:xfrm>
          <a:custGeom>
            <a:avLst/>
            <a:gdLst/>
            <a:ahLst/>
            <a:cxnLst/>
            <a:rect l="l" t="t" r="r" b="b"/>
            <a:pathLst>
              <a:path w="381000" h="457200">
                <a:moveTo>
                  <a:pt x="50800" y="0"/>
                </a:moveTo>
                <a:lnTo>
                  <a:pt x="330200" y="0"/>
                </a:lnTo>
                <a:arcTo wR="50800" hR="50800" stAng="16200000" swAng="5400000"/>
                <a:lnTo>
                  <a:pt x="381000" y="406400"/>
                </a:lnTo>
                <a:arcTo wR="50800" hR="50800" stAng="0" swAng="5400000"/>
                <a:lnTo>
                  <a:pt x="50800" y="45720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820458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−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971800" y="2955230"/>
            <a:ext cx="381000" cy="457200"/>
          </a:xfrm>
          <a:custGeom>
            <a:avLst/>
            <a:gdLst/>
            <a:ahLst/>
            <a:cxnLst/>
            <a:rect l="l" t="t" r="r" b="b"/>
            <a:pathLst>
              <a:path w="381000" h="457200">
                <a:moveTo>
                  <a:pt x="50800" y="0"/>
                </a:moveTo>
                <a:lnTo>
                  <a:pt x="330200" y="0"/>
                </a:lnTo>
                <a:arcTo wR="50800" hR="50800" stAng="16200000" swAng="5400000"/>
                <a:lnTo>
                  <a:pt x="381000" y="406400"/>
                </a:lnTo>
                <a:arcTo wR="50800" hR="50800" stAng="0" swAng="5400000"/>
                <a:lnTo>
                  <a:pt x="50800" y="45720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820458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03600" y="2955230"/>
            <a:ext cx="381000" cy="457200"/>
          </a:xfrm>
          <a:custGeom>
            <a:avLst/>
            <a:gdLst/>
            <a:ahLst/>
            <a:cxnLst/>
            <a:rect l="l" t="t" r="r" b="b"/>
            <a:pathLst>
              <a:path w="381000" h="457200">
                <a:moveTo>
                  <a:pt x="50800" y="0"/>
                </a:moveTo>
                <a:lnTo>
                  <a:pt x="330200" y="0"/>
                </a:lnTo>
                <a:arcTo wR="50800" hR="50800" stAng="16200000" swAng="5400000"/>
                <a:lnTo>
                  <a:pt x="381000" y="406400"/>
                </a:lnTo>
                <a:arcTo wR="50800" hR="50800" stAng="0" swAng="5400000"/>
                <a:lnTo>
                  <a:pt x="50800" y="45720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820458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835400" y="2955230"/>
            <a:ext cx="381000" cy="457200"/>
          </a:xfrm>
          <a:custGeom>
            <a:avLst/>
            <a:gdLst/>
            <a:ahLst/>
            <a:cxnLst/>
            <a:rect l="l" t="t" r="r" b="b"/>
            <a:pathLst>
              <a:path w="381000" h="457200">
                <a:moveTo>
                  <a:pt x="50800" y="0"/>
                </a:moveTo>
                <a:lnTo>
                  <a:pt x="330200" y="0"/>
                </a:lnTo>
                <a:arcTo wR="50800" hR="50800" stAng="16200000" swAng="5400000"/>
                <a:lnTo>
                  <a:pt x="381000" y="406400"/>
                </a:lnTo>
                <a:arcTo wR="50800" hR="50800" stAng="0" swAng="5400000"/>
                <a:lnTo>
                  <a:pt x="50800" y="45720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398874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=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267200" y="2955230"/>
            <a:ext cx="381000" cy="457200"/>
          </a:xfrm>
          <a:custGeom>
            <a:avLst/>
            <a:gdLst/>
            <a:ahLst/>
            <a:cxnLst/>
            <a:rect l="l" t="t" r="r" b="b"/>
            <a:pathLst>
              <a:path w="381000" h="457200">
                <a:moveTo>
                  <a:pt x="50800" y="0"/>
                </a:moveTo>
                <a:lnTo>
                  <a:pt x="330200" y="0"/>
                </a:lnTo>
                <a:arcTo wR="50800" hR="50800" stAng="16200000" swAng="5400000"/>
                <a:lnTo>
                  <a:pt x="381000" y="406400"/>
                </a:lnTo>
                <a:arcTo wR="50800" hR="50800" stAng="0" swAng="5400000"/>
                <a:lnTo>
                  <a:pt x="50800" y="45720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820458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05350" y="2961580"/>
            <a:ext cx="368300" cy="444500"/>
          </a:xfrm>
          <a:custGeom>
            <a:avLst/>
            <a:gdLst/>
            <a:ahLst/>
            <a:cxnLst/>
            <a:rect l="l" t="t" r="r" b="b"/>
            <a:pathLst>
              <a:path w="368300" h="444500">
                <a:moveTo>
                  <a:pt x="44450" y="0"/>
                </a:moveTo>
                <a:lnTo>
                  <a:pt x="323850" y="0"/>
                </a:lnTo>
                <a:arcTo wR="44450" hR="44450" stAng="16200000" swAng="5400000"/>
                <a:lnTo>
                  <a:pt x="368300" y="400050"/>
                </a:lnTo>
                <a:arcTo wR="44450" hR="44450" stAng="0" swAng="5400000"/>
                <a:lnTo>
                  <a:pt x="44450" y="444500"/>
                </a:lnTo>
                <a:arcTo wR="44450" hR="44450" stAng="5400000" swAng="5400000"/>
                <a:lnTo>
                  <a:pt x="0" y="44450"/>
                </a:lnTo>
                <a:arcTo wR="44450" hR="44450" stAng="10800000" swAng="5400000"/>
                <a:close/>
              </a:path>
            </a:pathLst>
          </a:custGeom>
          <a:solidFill>
            <a:srgbClr val="161803"/>
          </a:solidFill>
          <a:ln w="12700">
            <a:solidFill>
              <a:srgbClr val="4A4E5C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3402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9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32400" y="3068241"/>
            <a:ext cx="17018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D9D6C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1,404,041 → 374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3501330"/>
            <a:ext cx="381000" cy="457200"/>
          </a:xfrm>
          <a:custGeom>
            <a:avLst/>
            <a:gdLst/>
            <a:ahLst/>
            <a:cxnLst/>
            <a:rect l="l" t="t" r="r" b="b"/>
            <a:pathLst>
              <a:path w="381000" h="457200">
                <a:moveTo>
                  <a:pt x="50800" y="0"/>
                </a:moveTo>
                <a:lnTo>
                  <a:pt x="330200" y="0"/>
                </a:lnTo>
                <a:arcTo wR="50800" hR="50800" stAng="16200000" swAng="5400000"/>
                <a:lnTo>
                  <a:pt x="381000" y="406400"/>
                </a:lnTo>
                <a:arcTo wR="50800" hR="50800" stAng="0" swAng="5400000"/>
                <a:lnTo>
                  <a:pt x="50800" y="45720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820458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44600" y="3501330"/>
            <a:ext cx="381000" cy="457200"/>
          </a:xfrm>
          <a:custGeom>
            <a:avLst/>
            <a:gdLst/>
            <a:ahLst/>
            <a:cxnLst/>
            <a:rect l="l" t="t" r="r" b="b"/>
            <a:pathLst>
              <a:path w="381000" h="457200">
                <a:moveTo>
                  <a:pt x="50800" y="0"/>
                </a:moveTo>
                <a:lnTo>
                  <a:pt x="330200" y="0"/>
                </a:lnTo>
                <a:arcTo wR="50800" hR="50800" stAng="16200000" swAng="5400000"/>
                <a:lnTo>
                  <a:pt x="381000" y="406400"/>
                </a:lnTo>
                <a:arcTo wR="50800" hR="50800" stAng="0" swAng="5400000"/>
                <a:lnTo>
                  <a:pt x="50800" y="45720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820458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76400" y="3501330"/>
            <a:ext cx="381000" cy="457200"/>
          </a:xfrm>
          <a:custGeom>
            <a:avLst/>
            <a:gdLst/>
            <a:ahLst/>
            <a:cxnLst/>
            <a:rect l="l" t="t" r="r" b="b"/>
            <a:pathLst>
              <a:path w="381000" h="457200">
                <a:moveTo>
                  <a:pt x="50800" y="0"/>
                </a:moveTo>
                <a:lnTo>
                  <a:pt x="330200" y="0"/>
                </a:lnTo>
                <a:arcTo wR="50800" hR="50800" stAng="16200000" swAng="5400000"/>
                <a:lnTo>
                  <a:pt x="381000" y="406400"/>
                </a:lnTo>
                <a:arcTo wR="50800" hR="50800" stAng="0" swAng="5400000"/>
                <a:lnTo>
                  <a:pt x="50800" y="45720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398874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+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108200" y="3501330"/>
            <a:ext cx="381000" cy="457200"/>
          </a:xfrm>
          <a:custGeom>
            <a:avLst/>
            <a:gdLst/>
            <a:ahLst/>
            <a:cxnLst/>
            <a:rect l="l" t="t" r="r" b="b"/>
            <a:pathLst>
              <a:path w="381000" h="457200">
                <a:moveTo>
                  <a:pt x="50800" y="0"/>
                </a:moveTo>
                <a:lnTo>
                  <a:pt x="330200" y="0"/>
                </a:lnTo>
                <a:arcTo wR="50800" hR="50800" stAng="16200000" swAng="5400000"/>
                <a:lnTo>
                  <a:pt x="381000" y="406400"/>
                </a:lnTo>
                <a:arcTo wR="50800" hR="50800" stAng="0" swAng="5400000"/>
                <a:lnTo>
                  <a:pt x="50800" y="45720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820458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540000" y="3501330"/>
            <a:ext cx="381000" cy="457200"/>
          </a:xfrm>
          <a:custGeom>
            <a:avLst/>
            <a:gdLst/>
            <a:ahLst/>
            <a:cxnLst/>
            <a:rect l="l" t="t" r="r" b="b"/>
            <a:pathLst>
              <a:path w="381000" h="457200">
                <a:moveTo>
                  <a:pt x="50800" y="0"/>
                </a:moveTo>
                <a:lnTo>
                  <a:pt x="330200" y="0"/>
                </a:lnTo>
                <a:arcTo wR="50800" hR="50800" stAng="16200000" swAng="5400000"/>
                <a:lnTo>
                  <a:pt x="381000" y="406400"/>
                </a:lnTo>
                <a:arcTo wR="50800" hR="50800" stAng="0" swAng="5400000"/>
                <a:lnTo>
                  <a:pt x="50800" y="45720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398874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971800" y="3501330"/>
            <a:ext cx="381000" cy="457200"/>
          </a:xfrm>
          <a:custGeom>
            <a:avLst/>
            <a:gdLst/>
            <a:ahLst/>
            <a:cxnLst/>
            <a:rect l="l" t="t" r="r" b="b"/>
            <a:pathLst>
              <a:path w="381000" h="457200">
                <a:moveTo>
                  <a:pt x="50800" y="0"/>
                </a:moveTo>
                <a:lnTo>
                  <a:pt x="330200" y="0"/>
                </a:lnTo>
                <a:arcTo wR="50800" hR="50800" stAng="16200000" swAng="5400000"/>
                <a:lnTo>
                  <a:pt x="381000" y="406400"/>
                </a:lnTo>
                <a:arcTo wR="50800" hR="50800" stAng="0" swAng="5400000"/>
                <a:lnTo>
                  <a:pt x="50800" y="45720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398874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−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403600" y="3501330"/>
            <a:ext cx="381000" cy="457200"/>
          </a:xfrm>
          <a:custGeom>
            <a:avLst/>
            <a:gdLst/>
            <a:ahLst/>
            <a:cxnLst/>
            <a:rect l="l" t="t" r="r" b="b"/>
            <a:pathLst>
              <a:path w="381000" h="457200">
                <a:moveTo>
                  <a:pt x="50800" y="0"/>
                </a:moveTo>
                <a:lnTo>
                  <a:pt x="330200" y="0"/>
                </a:lnTo>
                <a:arcTo wR="50800" hR="50800" stAng="16200000" swAng="5400000"/>
                <a:lnTo>
                  <a:pt x="381000" y="406400"/>
                </a:lnTo>
                <a:arcTo wR="50800" hR="50800" stAng="0" swAng="5400000"/>
                <a:lnTo>
                  <a:pt x="50800" y="45720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820458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835400" y="3501330"/>
            <a:ext cx="381000" cy="457200"/>
          </a:xfrm>
          <a:custGeom>
            <a:avLst/>
            <a:gdLst/>
            <a:ahLst/>
            <a:cxnLst/>
            <a:rect l="l" t="t" r="r" b="b"/>
            <a:pathLst>
              <a:path w="381000" h="457200">
                <a:moveTo>
                  <a:pt x="50800" y="0"/>
                </a:moveTo>
                <a:lnTo>
                  <a:pt x="330200" y="0"/>
                </a:lnTo>
                <a:arcTo wR="50800" hR="50800" stAng="16200000" swAng="5400000"/>
                <a:lnTo>
                  <a:pt x="381000" y="406400"/>
                </a:lnTo>
                <a:arcTo wR="50800" hR="50800" stAng="0" swAng="5400000"/>
                <a:lnTo>
                  <a:pt x="50800" y="45720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398874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=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273550" y="3507680"/>
            <a:ext cx="368300" cy="444500"/>
          </a:xfrm>
          <a:custGeom>
            <a:avLst/>
            <a:gdLst/>
            <a:ahLst/>
            <a:cxnLst/>
            <a:rect l="l" t="t" r="r" b="b"/>
            <a:pathLst>
              <a:path w="368300" h="444500">
                <a:moveTo>
                  <a:pt x="44450" y="0"/>
                </a:moveTo>
                <a:lnTo>
                  <a:pt x="323850" y="0"/>
                </a:lnTo>
                <a:arcTo wR="44450" hR="44450" stAng="16200000" swAng="5400000"/>
                <a:lnTo>
                  <a:pt x="368300" y="400050"/>
                </a:lnTo>
                <a:arcTo wR="44450" hR="44450" stAng="0" swAng="5400000"/>
                <a:lnTo>
                  <a:pt x="44450" y="444500"/>
                </a:lnTo>
                <a:arcTo wR="44450" hR="44450" stAng="5400000" swAng="5400000"/>
                <a:lnTo>
                  <a:pt x="0" y="44450"/>
                </a:lnTo>
                <a:arcTo wR="44450" hR="44450" stAng="10800000" swAng="5400000"/>
                <a:close/>
              </a:path>
            </a:pathLst>
          </a:custGeom>
          <a:solidFill>
            <a:srgbClr val="161803"/>
          </a:solidFill>
          <a:ln w="12700">
            <a:solidFill>
              <a:srgbClr val="4A4E5C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3402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705350" y="3507680"/>
            <a:ext cx="368300" cy="444500"/>
          </a:xfrm>
          <a:custGeom>
            <a:avLst/>
            <a:gdLst/>
            <a:ahLst/>
            <a:cxnLst/>
            <a:rect l="l" t="t" r="r" b="b"/>
            <a:pathLst>
              <a:path w="368300" h="444500">
                <a:moveTo>
                  <a:pt x="44450" y="0"/>
                </a:moveTo>
                <a:lnTo>
                  <a:pt x="323850" y="0"/>
                </a:lnTo>
                <a:arcTo wR="44450" hR="44450" stAng="16200000" swAng="5400000"/>
                <a:lnTo>
                  <a:pt x="368300" y="400050"/>
                </a:lnTo>
                <a:arcTo wR="44450" hR="44450" stAng="0" swAng="5400000"/>
                <a:lnTo>
                  <a:pt x="44450" y="444500"/>
                </a:lnTo>
                <a:arcTo wR="44450" hR="44450" stAng="5400000" swAng="5400000"/>
                <a:lnTo>
                  <a:pt x="0" y="44450"/>
                </a:lnTo>
                <a:arcTo wR="44450" hR="44450" stAng="10800000" swAng="5400000"/>
                <a:close/>
              </a:path>
            </a:pathLst>
          </a:custGeom>
          <a:solidFill>
            <a:srgbClr val="161803"/>
          </a:solidFill>
          <a:ln w="12700">
            <a:solidFill>
              <a:srgbClr val="4A4E5C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3402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232400" y="3614341"/>
            <a:ext cx="17018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D9D6C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374 → 10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12800" y="4047430"/>
            <a:ext cx="381000" cy="457200"/>
          </a:xfrm>
          <a:custGeom>
            <a:avLst/>
            <a:gdLst/>
            <a:ahLst/>
            <a:cxnLst/>
            <a:rect l="l" t="t" r="r" b="b"/>
            <a:pathLst>
              <a:path w="381000" h="457200">
                <a:moveTo>
                  <a:pt x="50800" y="0"/>
                </a:moveTo>
                <a:lnTo>
                  <a:pt x="330200" y="0"/>
                </a:lnTo>
                <a:arcTo wR="50800" hR="50800" stAng="16200000" swAng="5400000"/>
                <a:lnTo>
                  <a:pt x="381000" y="406400"/>
                </a:lnTo>
                <a:arcTo wR="50800" hR="50800" stAng="0" swAng="5400000"/>
                <a:lnTo>
                  <a:pt x="50800" y="45720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398874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44600" y="4047430"/>
            <a:ext cx="381000" cy="457200"/>
          </a:xfrm>
          <a:custGeom>
            <a:avLst/>
            <a:gdLst/>
            <a:ahLst/>
            <a:cxnLst/>
            <a:rect l="l" t="t" r="r" b="b"/>
            <a:pathLst>
              <a:path w="381000" h="457200">
                <a:moveTo>
                  <a:pt x="50800" y="0"/>
                </a:moveTo>
                <a:lnTo>
                  <a:pt x="330200" y="0"/>
                </a:lnTo>
                <a:arcTo wR="50800" hR="50800" stAng="16200000" swAng="5400000"/>
                <a:lnTo>
                  <a:pt x="381000" y="406400"/>
                </a:lnTo>
                <a:arcTo wR="50800" hR="50800" stAng="0" swAng="5400000"/>
                <a:lnTo>
                  <a:pt x="50800" y="45720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398874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676400" y="4047430"/>
            <a:ext cx="381000" cy="457200"/>
          </a:xfrm>
          <a:custGeom>
            <a:avLst/>
            <a:gdLst/>
            <a:ahLst/>
            <a:cxnLst/>
            <a:rect l="l" t="t" r="r" b="b"/>
            <a:pathLst>
              <a:path w="381000" h="457200">
                <a:moveTo>
                  <a:pt x="50800" y="0"/>
                </a:moveTo>
                <a:lnTo>
                  <a:pt x="330200" y="0"/>
                </a:lnTo>
                <a:arcTo wR="50800" hR="50800" stAng="16200000" swAng="5400000"/>
                <a:lnTo>
                  <a:pt x="381000" y="406400"/>
                </a:lnTo>
                <a:arcTo wR="50800" hR="50800" stAng="0" swAng="5400000"/>
                <a:lnTo>
                  <a:pt x="50800" y="45720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398874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+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2108200" y="4047430"/>
            <a:ext cx="381000" cy="457200"/>
          </a:xfrm>
          <a:custGeom>
            <a:avLst/>
            <a:gdLst/>
            <a:ahLst/>
            <a:cxnLst/>
            <a:rect l="l" t="t" r="r" b="b"/>
            <a:pathLst>
              <a:path w="381000" h="457200">
                <a:moveTo>
                  <a:pt x="50800" y="0"/>
                </a:moveTo>
                <a:lnTo>
                  <a:pt x="330200" y="0"/>
                </a:lnTo>
                <a:arcTo wR="50800" hR="50800" stAng="16200000" swAng="5400000"/>
                <a:lnTo>
                  <a:pt x="381000" y="406400"/>
                </a:lnTo>
                <a:arcTo wR="50800" hR="50800" stAng="0" swAng="5400000"/>
                <a:lnTo>
                  <a:pt x="50800" y="45720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398874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3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2540000" y="4047430"/>
            <a:ext cx="381000" cy="457200"/>
          </a:xfrm>
          <a:custGeom>
            <a:avLst/>
            <a:gdLst/>
            <a:ahLst/>
            <a:cxnLst/>
            <a:rect l="l" t="t" r="r" b="b"/>
            <a:pathLst>
              <a:path w="381000" h="457200">
                <a:moveTo>
                  <a:pt x="50800" y="0"/>
                </a:moveTo>
                <a:lnTo>
                  <a:pt x="330200" y="0"/>
                </a:lnTo>
                <a:arcTo wR="50800" hR="50800" stAng="16200000" swAng="5400000"/>
                <a:lnTo>
                  <a:pt x="381000" y="406400"/>
                </a:lnTo>
                <a:arcTo wR="50800" hR="50800" stAng="0" swAng="5400000"/>
                <a:lnTo>
                  <a:pt x="50800" y="45720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398874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2971800" y="4047430"/>
            <a:ext cx="381000" cy="457200"/>
          </a:xfrm>
          <a:custGeom>
            <a:avLst/>
            <a:gdLst/>
            <a:ahLst/>
            <a:cxnLst/>
            <a:rect l="l" t="t" r="r" b="b"/>
            <a:pathLst>
              <a:path w="381000" h="457200">
                <a:moveTo>
                  <a:pt x="50800" y="0"/>
                </a:moveTo>
                <a:lnTo>
                  <a:pt x="330200" y="0"/>
                </a:lnTo>
                <a:arcTo wR="50800" hR="50800" stAng="16200000" swAng="5400000"/>
                <a:lnTo>
                  <a:pt x="381000" y="406400"/>
                </a:lnTo>
                <a:arcTo wR="50800" hR="50800" stAng="0" swAng="5400000"/>
                <a:lnTo>
                  <a:pt x="50800" y="45720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398874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−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3409950" y="4053780"/>
            <a:ext cx="368300" cy="444500"/>
          </a:xfrm>
          <a:custGeom>
            <a:avLst/>
            <a:gdLst/>
            <a:ahLst/>
            <a:cxnLst/>
            <a:rect l="l" t="t" r="r" b="b"/>
            <a:pathLst>
              <a:path w="368300" h="444500">
                <a:moveTo>
                  <a:pt x="44450" y="0"/>
                </a:moveTo>
                <a:lnTo>
                  <a:pt x="323850" y="0"/>
                </a:lnTo>
                <a:arcTo wR="44450" hR="44450" stAng="16200000" swAng="5400000"/>
                <a:lnTo>
                  <a:pt x="368300" y="400050"/>
                </a:lnTo>
                <a:arcTo wR="44450" hR="44450" stAng="0" swAng="5400000"/>
                <a:lnTo>
                  <a:pt x="44450" y="444500"/>
                </a:lnTo>
                <a:arcTo wR="44450" hR="44450" stAng="5400000" swAng="5400000"/>
                <a:lnTo>
                  <a:pt x="0" y="44450"/>
                </a:lnTo>
                <a:arcTo wR="44450" hR="44450" stAng="10800000" swAng="5400000"/>
                <a:close/>
              </a:path>
            </a:pathLst>
          </a:custGeom>
          <a:solidFill>
            <a:srgbClr val="161803"/>
          </a:solidFill>
          <a:ln w="12700">
            <a:solidFill>
              <a:srgbClr val="4A4E5C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3402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3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3835400" y="4047430"/>
            <a:ext cx="381000" cy="457200"/>
          </a:xfrm>
          <a:custGeom>
            <a:avLst/>
            <a:gdLst/>
            <a:ahLst/>
            <a:cxnLst/>
            <a:rect l="l" t="t" r="r" b="b"/>
            <a:pathLst>
              <a:path w="381000" h="457200">
                <a:moveTo>
                  <a:pt x="50800" y="0"/>
                </a:moveTo>
                <a:lnTo>
                  <a:pt x="330200" y="0"/>
                </a:lnTo>
                <a:arcTo wR="50800" hR="50800" stAng="16200000" swAng="5400000"/>
                <a:lnTo>
                  <a:pt x="381000" y="406400"/>
                </a:lnTo>
                <a:arcTo wR="50800" hR="50800" stAng="0" swAng="5400000"/>
                <a:lnTo>
                  <a:pt x="50800" y="45720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398874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=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267200" y="4047430"/>
            <a:ext cx="381000" cy="457200"/>
          </a:xfrm>
          <a:custGeom>
            <a:avLst/>
            <a:gdLst/>
            <a:ahLst/>
            <a:cxnLst/>
            <a:rect l="l" t="t" r="r" b="b"/>
            <a:pathLst>
              <a:path w="381000" h="457200">
                <a:moveTo>
                  <a:pt x="50800" y="0"/>
                </a:moveTo>
                <a:lnTo>
                  <a:pt x="330200" y="0"/>
                </a:lnTo>
                <a:arcTo wR="50800" hR="50800" stAng="16200000" swAng="5400000"/>
                <a:lnTo>
                  <a:pt x="381000" y="406400"/>
                </a:lnTo>
                <a:arcTo wR="50800" hR="50800" stAng="0" swAng="5400000"/>
                <a:lnTo>
                  <a:pt x="50800" y="45720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398874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4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705350" y="4053780"/>
            <a:ext cx="368300" cy="444500"/>
          </a:xfrm>
          <a:custGeom>
            <a:avLst/>
            <a:gdLst/>
            <a:ahLst/>
            <a:cxnLst/>
            <a:rect l="l" t="t" r="r" b="b"/>
            <a:pathLst>
              <a:path w="368300" h="444500">
                <a:moveTo>
                  <a:pt x="44450" y="0"/>
                </a:moveTo>
                <a:lnTo>
                  <a:pt x="323850" y="0"/>
                </a:lnTo>
                <a:arcTo wR="44450" hR="44450" stAng="16200000" swAng="5400000"/>
                <a:lnTo>
                  <a:pt x="368300" y="400050"/>
                </a:lnTo>
                <a:arcTo wR="44450" hR="44450" stAng="0" swAng="5400000"/>
                <a:lnTo>
                  <a:pt x="44450" y="444500"/>
                </a:lnTo>
                <a:arcTo wR="44450" hR="44450" stAng="5400000" swAng="5400000"/>
                <a:lnTo>
                  <a:pt x="0" y="44450"/>
                </a:lnTo>
                <a:arcTo wR="44450" hR="44450" stAng="10800000" swAng="5400000"/>
                <a:close/>
              </a:path>
            </a:pathLst>
          </a:custGeom>
          <a:solidFill>
            <a:srgbClr val="161803"/>
          </a:solidFill>
          <a:ln w="12700">
            <a:solidFill>
              <a:srgbClr val="4A4E5C"/>
            </a:solidFill>
            <a:prstDash val="solid"/>
          </a:ln>
        </p:spPr>
        <p:txBody>
          <a:bodyPr wrap="square" lIns="0" tIns="6350" rIns="0" bIns="0" rtlCol="0" anchor="t">
            <a:normAutofit/>
          </a:bodyPr>
          <a:lstStyle/>
          <a:p>
            <a:pPr marL="0" indent="0" algn="ctr">
              <a:lnSpc>
                <a:spcPts val="3402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4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232400" y="4160441"/>
            <a:ext cx="17018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D9D6CC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 → 1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12800" y="4593530"/>
            <a:ext cx="381000" cy="457200"/>
          </a:xfrm>
          <a:custGeom>
            <a:avLst/>
            <a:gdLst/>
            <a:ahLst/>
            <a:cxnLst/>
            <a:rect l="l" t="t" r="r" b="b"/>
            <a:pathLst>
              <a:path w="381000" h="457200">
                <a:moveTo>
                  <a:pt x="50800" y="0"/>
                </a:moveTo>
                <a:lnTo>
                  <a:pt x="330200" y="0"/>
                </a:lnTo>
                <a:arcTo wR="50800" hR="50800" stAng="16200000" swAng="5400000"/>
                <a:lnTo>
                  <a:pt x="381000" y="406400"/>
                </a:lnTo>
                <a:arcTo wR="50800" hR="50800" stAng="0" swAng="5400000"/>
                <a:lnTo>
                  <a:pt x="50800" y="45720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398874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244600" y="4593530"/>
            <a:ext cx="381000" cy="457200"/>
          </a:xfrm>
          <a:custGeom>
            <a:avLst/>
            <a:gdLst/>
            <a:ahLst/>
            <a:cxnLst/>
            <a:rect l="l" t="t" r="r" b="b"/>
            <a:pathLst>
              <a:path w="381000" h="457200">
                <a:moveTo>
                  <a:pt x="50800" y="0"/>
                </a:moveTo>
                <a:lnTo>
                  <a:pt x="330200" y="0"/>
                </a:lnTo>
                <a:arcTo wR="50800" hR="50800" stAng="16200000" swAng="5400000"/>
                <a:lnTo>
                  <a:pt x="381000" y="406400"/>
                </a:lnTo>
                <a:arcTo wR="50800" hR="50800" stAng="0" swAng="5400000"/>
                <a:lnTo>
                  <a:pt x="50800" y="45720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398874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676400" y="4593530"/>
            <a:ext cx="381000" cy="457200"/>
          </a:xfrm>
          <a:custGeom>
            <a:avLst/>
            <a:gdLst/>
            <a:ahLst/>
            <a:cxnLst/>
            <a:rect l="l" t="t" r="r" b="b"/>
            <a:pathLst>
              <a:path w="381000" h="457200">
                <a:moveTo>
                  <a:pt x="50800" y="0"/>
                </a:moveTo>
                <a:lnTo>
                  <a:pt x="330200" y="0"/>
                </a:lnTo>
                <a:arcTo wR="50800" hR="50800" stAng="16200000" swAng="5400000"/>
                <a:lnTo>
                  <a:pt x="381000" y="406400"/>
                </a:lnTo>
                <a:arcTo wR="50800" hR="50800" stAng="0" swAng="5400000"/>
                <a:lnTo>
                  <a:pt x="50800" y="45720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398874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+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2108200" y="4593530"/>
            <a:ext cx="381000" cy="457200"/>
          </a:xfrm>
          <a:custGeom>
            <a:avLst/>
            <a:gdLst/>
            <a:ahLst/>
            <a:cxnLst/>
            <a:rect l="l" t="t" r="r" b="b"/>
            <a:pathLst>
              <a:path w="381000" h="457200">
                <a:moveTo>
                  <a:pt x="50800" y="0"/>
                </a:moveTo>
                <a:lnTo>
                  <a:pt x="330200" y="0"/>
                </a:lnTo>
                <a:arcTo wR="50800" hR="50800" stAng="16200000" swAng="5400000"/>
                <a:lnTo>
                  <a:pt x="381000" y="406400"/>
                </a:lnTo>
                <a:arcTo wR="50800" hR="50800" stAng="0" swAng="5400000"/>
                <a:lnTo>
                  <a:pt x="50800" y="45720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398874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3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2540000" y="4593530"/>
            <a:ext cx="381000" cy="457200"/>
          </a:xfrm>
          <a:custGeom>
            <a:avLst/>
            <a:gdLst/>
            <a:ahLst/>
            <a:cxnLst/>
            <a:rect l="l" t="t" r="r" b="b"/>
            <a:pathLst>
              <a:path w="381000" h="457200">
                <a:moveTo>
                  <a:pt x="50800" y="0"/>
                </a:moveTo>
                <a:lnTo>
                  <a:pt x="330200" y="0"/>
                </a:lnTo>
                <a:arcTo wR="50800" hR="50800" stAng="16200000" swAng="5400000"/>
                <a:lnTo>
                  <a:pt x="381000" y="406400"/>
                </a:lnTo>
                <a:arcTo wR="50800" hR="50800" stAng="0" swAng="5400000"/>
                <a:lnTo>
                  <a:pt x="50800" y="45720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398874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5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2971800" y="4593530"/>
            <a:ext cx="381000" cy="457200"/>
          </a:xfrm>
          <a:custGeom>
            <a:avLst/>
            <a:gdLst/>
            <a:ahLst/>
            <a:cxnLst/>
            <a:rect l="l" t="t" r="r" b="b"/>
            <a:pathLst>
              <a:path w="381000" h="457200">
                <a:moveTo>
                  <a:pt x="50800" y="0"/>
                </a:moveTo>
                <a:lnTo>
                  <a:pt x="330200" y="0"/>
                </a:lnTo>
                <a:arcTo wR="50800" hR="50800" stAng="16200000" swAng="5400000"/>
                <a:lnTo>
                  <a:pt x="381000" y="406400"/>
                </a:lnTo>
                <a:arcTo wR="50800" hR="50800" stAng="0" swAng="5400000"/>
                <a:lnTo>
                  <a:pt x="50800" y="45720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398874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−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3403600" y="4593530"/>
            <a:ext cx="381000" cy="457200"/>
          </a:xfrm>
          <a:custGeom>
            <a:avLst/>
            <a:gdLst/>
            <a:ahLst/>
            <a:cxnLst/>
            <a:rect l="l" t="t" r="r" b="b"/>
            <a:pathLst>
              <a:path w="381000" h="457200">
                <a:moveTo>
                  <a:pt x="50800" y="0"/>
                </a:moveTo>
                <a:lnTo>
                  <a:pt x="330200" y="0"/>
                </a:lnTo>
                <a:arcTo wR="50800" hR="50800" stAng="16200000" swAng="5400000"/>
                <a:lnTo>
                  <a:pt x="381000" y="406400"/>
                </a:lnTo>
                <a:arcTo wR="50800" hR="50800" stAng="0" swAng="5400000"/>
                <a:lnTo>
                  <a:pt x="50800" y="45720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398874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7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3835400" y="4593530"/>
            <a:ext cx="381000" cy="457200"/>
          </a:xfrm>
          <a:custGeom>
            <a:avLst/>
            <a:gdLst/>
            <a:ahLst/>
            <a:cxnLst/>
            <a:rect l="l" t="t" r="r" b="b"/>
            <a:pathLst>
              <a:path w="381000" h="457200">
                <a:moveTo>
                  <a:pt x="50800" y="0"/>
                </a:moveTo>
                <a:lnTo>
                  <a:pt x="330200" y="0"/>
                </a:lnTo>
                <a:arcTo wR="50800" hR="50800" stAng="16200000" swAng="5400000"/>
                <a:lnTo>
                  <a:pt x="381000" y="406400"/>
                </a:lnTo>
                <a:arcTo wR="50800" hR="50800" stAng="0" swAng="5400000"/>
                <a:lnTo>
                  <a:pt x="50800" y="45720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398874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=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4267200" y="4593530"/>
            <a:ext cx="381000" cy="457200"/>
          </a:xfrm>
          <a:custGeom>
            <a:avLst/>
            <a:gdLst/>
            <a:ahLst/>
            <a:cxnLst/>
            <a:rect l="l" t="t" r="r" b="b"/>
            <a:pathLst>
              <a:path w="381000" h="457200">
                <a:moveTo>
                  <a:pt x="50800" y="0"/>
                </a:moveTo>
                <a:lnTo>
                  <a:pt x="330200" y="0"/>
                </a:lnTo>
                <a:arcTo wR="50800" hR="50800" stAng="16200000" swAng="5400000"/>
                <a:lnTo>
                  <a:pt x="381000" y="406400"/>
                </a:lnTo>
                <a:arcTo wR="50800" hR="50800" stAng="0" swAng="5400000"/>
                <a:lnTo>
                  <a:pt x="50800" y="45720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398874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4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4699000" y="4593530"/>
            <a:ext cx="381000" cy="457200"/>
          </a:xfrm>
          <a:custGeom>
            <a:avLst/>
            <a:gdLst/>
            <a:ahLst/>
            <a:cxnLst/>
            <a:rect l="l" t="t" r="r" b="b"/>
            <a:pathLst>
              <a:path w="381000" h="457200">
                <a:moveTo>
                  <a:pt x="50800" y="0"/>
                </a:moveTo>
                <a:lnTo>
                  <a:pt x="330200" y="0"/>
                </a:lnTo>
                <a:arcTo wR="50800" hR="50800" stAng="16200000" swAng="5400000"/>
                <a:lnTo>
                  <a:pt x="381000" y="406400"/>
                </a:lnTo>
                <a:arcTo wR="50800" hR="50800" stAng="0" swAng="5400000"/>
                <a:lnTo>
                  <a:pt x="50800" y="45720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398874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5232400" y="4706541"/>
            <a:ext cx="17018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6FC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 4 步猜中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7340600" y="2632670"/>
            <a:ext cx="415975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F2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候选集 S</a:t>
            </a:r>
            <a:r>
              <a:rPr lang="en-US" sz="1400" dirty="0">
                <a:solidFill>
                  <a:srgbClr val="D9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：与已知全部反馈都一致的等式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7340600" y="3077170"/>
            <a:ext cx="4159758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D9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一次猜测按反馈图案把 S 分成若干</a:t>
            </a:r>
            <a:r>
              <a:rPr lang="en-US" sz="1400" b="1" dirty="0">
                <a:solidFill>
                  <a:srgbClr val="F2EF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「桶」</a:t>
            </a:r>
            <a:r>
              <a:rPr lang="en-US" sz="1400" dirty="0">
                <a:solidFill>
                  <a:srgbClr val="D9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，10 格最多 3¹⁰ = 59,049 种图案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7340600" y="3788370"/>
            <a:ext cx="4159758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D9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选猜测就是选切分方式：桶越多、越均匀，得到的信息越多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7340600" y="4499570"/>
            <a:ext cx="4159758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D9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信息量用熵衡量：</a:t>
            </a:r>
            <a:r>
              <a:rPr lang="en-US" sz="1400" dirty="0">
                <a:solidFill>
                  <a:srgbClr val="6FC3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= −Σ p·log₂p</a:t>
            </a:r>
            <a:r>
              <a:rPr lang="en-US" sz="1400" dirty="0">
                <a:solidFill>
                  <a:srgbClr val="D9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。首猜 56+4−31=29 期望 12.78 bit，分出 22,722 个桶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812800" y="62382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D91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Nerdle 10 格 · 开题汇报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8D91A0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06 / 13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B6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　解题策略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0072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C1F2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九种枚举策略，从基线到最优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734741"/>
          <a:ext cx="10553700" cy="3593210"/>
        </p:xfrm>
        <a:graphic>
          <a:graphicData uri="http://schemas.openxmlformats.org/drawingml/2006/table">
            <a:tbl>
              <a:tblPr/>
              <a:tblGrid>
                <a:gridCol w="1055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50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432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32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编号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5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方案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AB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5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做法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AB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5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32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随机一致候选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从候选集中随机挑一个，作为基线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32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位置频率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按各位置字符频率和新字符覆盖打分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32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最大熵（3b1b 第一版）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选反馈分布熵最大的猜测，可用非候选的“探测”等式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32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期望步数（3b1b 第二版）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5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最小化 1 + Σ p_b·f(|S_b|)，并计入这一步直接猜中的概率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B5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32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两步前瞻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对 E4 排名前 K 的猜测，再在每个桶里求最佳第二手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32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残局精确解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候选不超过 12 个时，记忆化搜索求最小期望步数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32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开局库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离线算好第 1 手，以及每种反馈对应的第 2 手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32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最大桶最小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只看最坏情况，用来论证 6 步内必解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932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约束生成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不建题库，按反馈约束边枚举边剪枝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5581948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当前主力：E4 + E6 + E7。E4 中的 f(·) 由机器学习 ML-1 从自对弈数据拟合。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Nerdle 10 格 · 开题汇报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6F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07 / 13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37673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B6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　机器学习（加分项）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00720"/>
            <a:ext cx="438912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C1F2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让程序自己学会解题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24090" y="1041400"/>
            <a:ext cx="405511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A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Gym 式环境 reset / step；反馈、过滤、分桶都在 C 中完成，Python 经 ctypes 调用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19150" y="1728391"/>
            <a:ext cx="5194300" cy="1506141"/>
          </a:xfrm>
          <a:prstGeom prst="roundRect">
            <a:avLst>
              <a:gd name="adj" fmla="val 6324"/>
            </a:avLst>
          </a:prstGeom>
          <a:solidFill>
            <a:srgbClr val="FFFDF8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4100" y="1912541"/>
            <a:ext cx="518220" cy="264120"/>
          </a:xfrm>
          <a:prstGeom prst="roundRect">
            <a:avLst>
              <a:gd name="adj" fmla="val 14425"/>
            </a:avLst>
          </a:prstGeom>
          <a:solidFill>
            <a:srgbClr val="E9E5D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1F2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ML-1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73920" y="1922661"/>
            <a:ext cx="1530548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拟合 f(H) 曲线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4100" y="2252861"/>
            <a:ext cx="4866132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2E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 E3 自对弈记录（剩余信息量，实际剩余步数），以等渗回归或小 MLP 拟合 f，供 E4 估计期望步数。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4100" y="2824361"/>
            <a:ext cx="486613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预计计算量：秒级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81725" y="1731566"/>
            <a:ext cx="5187950" cy="1499791"/>
          </a:xfrm>
          <a:prstGeom prst="roundRect">
            <a:avLst>
              <a:gd name="adj" fmla="val 6139"/>
            </a:avLst>
          </a:prstGeom>
          <a:solidFill>
            <a:srgbClr val="FFFDF8"/>
          </a:solidFill>
          <a:ln w="19050">
            <a:solidFill>
              <a:srgbClr val="3988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9850" y="1918891"/>
            <a:ext cx="518220" cy="264120"/>
          </a:xfrm>
          <a:prstGeom prst="roundRect">
            <a:avLst>
              <a:gd name="adj" fmla="val 14425"/>
            </a:avLst>
          </a:prstGeom>
          <a:solidFill>
            <a:srgbClr val="2B6E5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ML-2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39670" y="1929011"/>
            <a:ext cx="152400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自对弈价值网络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63670" y="1944291"/>
            <a:ext cx="7315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B6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主推方案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19850" y="2259211"/>
            <a:ext cx="4853051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2E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状态特征 φ(S) 约 200 维，MLP 预测剩余步数 V(S)；在 E3 前 K 名中选 1 + Σ p_b·V(S_b) 最小的猜测；拟合值迭代 5–10 轮。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19850" y="2830711"/>
            <a:ext cx="48530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权重导出后由 C 推理，终端版可直接使用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9150" y="3399631"/>
            <a:ext cx="5194300" cy="1493441"/>
          </a:xfrm>
          <a:prstGeom prst="roundRect">
            <a:avLst>
              <a:gd name="adj" fmla="val 6378"/>
            </a:avLst>
          </a:prstGeom>
          <a:solidFill>
            <a:srgbClr val="FFFDF8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4100" y="3583781"/>
            <a:ext cx="518220" cy="264120"/>
          </a:xfrm>
          <a:prstGeom prst="roundRect">
            <a:avLst>
              <a:gd name="adj" fmla="val 14425"/>
            </a:avLst>
          </a:prstGeom>
          <a:solidFill>
            <a:srgbClr val="E9E5D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1F2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ML-3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73920" y="3593902"/>
            <a:ext cx="1558052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PPO 策略梯度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4100" y="3924102"/>
            <a:ext cx="4866132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2E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动作是前 K 个候选猜测，每个带 H、猜中概率、最大桶、V 等特征；奖励每步 −1，失败再扣 5，带价值基线。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4100" y="4495602"/>
            <a:ext cx="486613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预计 Mac 上训练 30–60 分钟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78550" y="3399631"/>
            <a:ext cx="5194300" cy="1493441"/>
          </a:xfrm>
          <a:prstGeom prst="roundRect">
            <a:avLst>
              <a:gd name="adj" fmla="val 6378"/>
            </a:avLst>
          </a:prstGeom>
          <a:solidFill>
            <a:srgbClr val="FFFDF8"/>
          </a:solidFill>
          <a:ln w="12700">
            <a:solidFill>
              <a:srgbClr val="A9A392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6413500" y="3583781"/>
            <a:ext cx="518220" cy="264120"/>
          </a:xfrm>
          <a:prstGeom prst="roundRect">
            <a:avLst>
              <a:gd name="adj" fmla="val 14425"/>
            </a:avLst>
          </a:prstGeom>
          <a:solidFill>
            <a:srgbClr val="E9E5D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C1F2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ML-4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33320" y="3593902"/>
            <a:ext cx="132080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C1F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纯神经猜测器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54120" y="3609181"/>
            <a:ext cx="7315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可选对照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13500" y="3924102"/>
            <a:ext cx="4866132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2E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编码历史，在语法掩码下自回归生成等式，决策时不枚举；先监督预训练，再用强化学习微调。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13500" y="4495602"/>
            <a:ext cx="486613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预计 Mac 上训练 1–2 小时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12800" y="62382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Nerdle 10 格 · 开题汇报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6F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08 / 13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B6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　初步结果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0072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C1F2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已完成部分：10 格 1 万题基准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785541"/>
          <a:ext cx="6743700" cy="2702077"/>
        </p:xfrm>
        <a:graphic>
          <a:graphicData uri="http://schemas.openxmlformats.org/drawingml/2006/table">
            <a:tbl>
              <a:tblPr/>
              <a:tblGrid>
                <a:gridCol w="31021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8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41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8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方案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5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平均步数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AB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5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最坏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AB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5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超过 6 步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AB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5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E1 随机一致候选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3.732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E2 位置频率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3.460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E3 最大熵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3.366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E3' 最大熵·仅候选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3.354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E4 期望步数 + 开局库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3.326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5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5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5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F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E8 最大桶最小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3.410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F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640014"/>
            <a:ext cx="695909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固定种子 2026 抽 10,000 题，开启交换律判胜；E5 两步前瞻的 10 格基准尚未跑完。另有 144 项单元测试通过，100 万对反馈与独立参考实现逐一比对一致。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096250" y="1772841"/>
            <a:ext cx="0" cy="1005780"/>
          </a:xfrm>
          <a:prstGeom prst="line">
            <a:avLst/>
          </a:prstGeom>
          <a:noFill/>
          <a:ln w="38100">
            <a:solidFill>
              <a:srgbClr val="39887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93100" y="1798241"/>
            <a:ext cx="3178683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2B6E5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3.33 步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8293100" y="2290961"/>
            <a:ext cx="3178683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格平均步数（E4），最坏 5 步，全部在 6 步内解出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096250" y="3007221"/>
            <a:ext cx="0" cy="1005780"/>
          </a:xfrm>
          <a:prstGeom prst="line">
            <a:avLst/>
          </a:prstGeom>
          <a:noFill/>
          <a:ln w="38100">
            <a:solidFill>
              <a:srgbClr val="82045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93100" y="3032621"/>
            <a:ext cx="3178683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82045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12.78 bit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8293100" y="3525341"/>
            <a:ext cx="3178683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最佳首猜 56+4−31=29 的期望信息量，猜后平均剩 386 个候选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096250" y="4241602"/>
            <a:ext cx="0" cy="774650"/>
          </a:xfrm>
          <a:prstGeom prst="line">
            <a:avLst/>
          </a:prstGeom>
          <a:noFill/>
          <a:ln w="38100">
            <a:solidFill>
              <a:srgbClr val="1C1F2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93100" y="4267002"/>
            <a:ext cx="3178683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dirty="0">
                <a:solidFill>
                  <a:srgbClr val="1C1F2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2.96 步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8293100" y="4759722"/>
            <a:ext cx="3178683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格全部 17,723 题的平均步数（E4）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12800" y="62382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Nerdle 10 格 · 开题汇报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6F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09 / 13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B6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　进度安排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0072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C1F2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四个阶段，第一阶段已完成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325" y="1782366"/>
            <a:ext cx="2289175" cy="3244652"/>
          </a:xfrm>
          <a:prstGeom prst="roundRect">
            <a:avLst>
              <a:gd name="adj" fmla="val 4022"/>
            </a:avLst>
          </a:prstGeom>
          <a:solidFill>
            <a:srgbClr val="FFFDF8"/>
          </a:solidFill>
          <a:ln w="19050">
            <a:solidFill>
              <a:srgbClr val="39887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950" y="1982391"/>
            <a:ext cx="19981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B6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阶段一 · 步骤 1–4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96950" y="2284611"/>
            <a:ext cx="1998123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C1F2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基础系统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96950" y="2647801"/>
            <a:ext cx="1998123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2E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项目骨架与构建脚本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96950" y="2967831"/>
            <a:ext cx="1998123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2E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核心：规则、枚举、反馈、等价类、出题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96950" y="3518991"/>
            <a:ext cx="1998123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2E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E1–E9、基准测试、开局库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96950" y="4070152"/>
            <a:ext cx="1998123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2E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跨平台终端版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96950" y="4537472"/>
            <a:ext cx="1939925" cy="289520"/>
          </a:xfrm>
          <a:prstGeom prst="roundRect">
            <a:avLst>
              <a:gd name="adj" fmla="val 17546"/>
            </a:avLst>
          </a:prstGeom>
          <a:solidFill>
            <a:srgbClr val="2B6E5E"/>
          </a:solidFill>
          <a:ln/>
        </p:spPr>
        <p:txBody>
          <a:bodyPr wrap="square" lIns="86721" tIns="23221" rIns="34619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6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已完成并测试</a:t>
            </a:r>
            <a:endParaRPr lang="en-US" sz="1200" dirty="0"/>
          </a:p>
        </p:txBody>
      </p:sp>
      <p:pic>
        <p:nvPicPr>
          <p:cNvPr id="12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22625" y="3334841"/>
            <a:ext cx="254000" cy="1397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3584575" y="1779191"/>
            <a:ext cx="2282825" cy="3251002"/>
          </a:xfrm>
          <a:prstGeom prst="roundRect">
            <a:avLst>
              <a:gd name="adj" fmla="val 4172"/>
            </a:avLst>
          </a:prstGeom>
          <a:solidFill>
            <a:srgbClr val="FFFDF8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756025" y="1976041"/>
            <a:ext cx="19981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20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阶段二 · 步骤 5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756025" y="2278261"/>
            <a:ext cx="1998123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C1F2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机器学习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3756025" y="2641451"/>
            <a:ext cx="1998123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2E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ML-1 拟合 f(H)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756025" y="2961481"/>
            <a:ext cx="1998123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2E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ML-2 自对弈价值网络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756025" y="3281511"/>
            <a:ext cx="1998123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2E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ML-3 PPO 策略梯度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756025" y="3601541"/>
            <a:ext cx="1998123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2E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ML-4 纯神经猜测器（可选）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756025" y="4241602"/>
            <a:ext cx="1939925" cy="289520"/>
          </a:xfrm>
          <a:prstGeom prst="roundRect">
            <a:avLst>
              <a:gd name="adj" fmla="val 17546"/>
            </a:avLst>
          </a:prstGeom>
          <a:solidFill>
            <a:srgbClr val="F3E4EE"/>
          </a:solidFill>
          <a:ln/>
        </p:spPr>
        <p:txBody>
          <a:bodyPr wrap="square" lIns="86721" tIns="23221" rIns="34619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20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代码草稿，待训练验证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756025" y="4620022"/>
            <a:ext cx="19981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计划：[__ 月 __ 日前]</a:t>
            </a:r>
            <a:endParaRPr lang="en-US" sz="1200" dirty="0"/>
          </a:p>
        </p:txBody>
      </p:sp>
      <p:pic>
        <p:nvPicPr>
          <p:cNvPr id="22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75350" y="3334841"/>
            <a:ext cx="254000" cy="13970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6337300" y="1779191"/>
            <a:ext cx="2282825" cy="3251002"/>
          </a:xfrm>
          <a:prstGeom prst="roundRect">
            <a:avLst>
              <a:gd name="adj" fmla="val 4172"/>
            </a:avLst>
          </a:prstGeom>
          <a:solidFill>
            <a:srgbClr val="FFFDF8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508750" y="1976041"/>
            <a:ext cx="19981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20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阶段三 · 步骤 6–7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508750" y="2278261"/>
            <a:ext cx="1998123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C1F2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macOS 扩展</a:t>
            </a:r>
            <a:endParaRPr lang="en-US" sz="1800" dirty="0"/>
          </a:p>
        </p:txBody>
      </p:sp>
      <p:sp>
        <p:nvSpPr>
          <p:cNvPr id="26" name="Text 22"/>
          <p:cNvSpPr/>
          <p:nvPr/>
        </p:nvSpPr>
        <p:spPr>
          <a:xfrm>
            <a:off x="6508750" y="2641451"/>
            <a:ext cx="1998123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2E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Use 库与 cu 命令行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6508750" y="3192611"/>
            <a:ext cx="210502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2E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cu-mcp 服务器与插件打包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6508750" y="3512641"/>
            <a:ext cx="1998123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2E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 Mac 上编译测试，报告回传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6508750" y="4241602"/>
            <a:ext cx="1939925" cy="289520"/>
          </a:xfrm>
          <a:prstGeom prst="roundRect">
            <a:avLst>
              <a:gd name="adj" fmla="val 17546"/>
            </a:avLst>
          </a:prstGeom>
          <a:solidFill>
            <a:srgbClr val="F3E4EE"/>
          </a:solidFill>
          <a:ln/>
        </p:spPr>
        <p:txBody>
          <a:bodyPr wrap="square" lIns="86721" tIns="23221" rIns="34619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20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代码草稿，待 Mac 验证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6508750" y="4620022"/>
            <a:ext cx="19981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计划：[__ 月 __ 日前]</a:t>
            </a:r>
            <a:endParaRPr lang="en-US" sz="1200" dirty="0"/>
          </a:p>
        </p:txBody>
      </p:sp>
      <p:pic>
        <p:nvPicPr>
          <p:cNvPr id="31" name="Image 2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728075" y="3334841"/>
            <a:ext cx="254000" cy="139700"/>
          </a:xfrm>
          <a:prstGeom prst="rect">
            <a:avLst/>
          </a:prstGeom>
        </p:spPr>
      </p:pic>
      <p:sp>
        <p:nvSpPr>
          <p:cNvPr id="32" name="Shape 27"/>
          <p:cNvSpPr/>
          <p:nvPr/>
        </p:nvSpPr>
        <p:spPr>
          <a:xfrm>
            <a:off x="9090025" y="1779191"/>
            <a:ext cx="2282825" cy="3251002"/>
          </a:xfrm>
          <a:prstGeom prst="roundRect">
            <a:avLst>
              <a:gd name="adj" fmla="val 4172"/>
            </a:avLst>
          </a:prstGeom>
          <a:solidFill>
            <a:srgbClr val="FFFDF8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9261475" y="1976041"/>
            <a:ext cx="19981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B6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阶段四 · 步骤 8–9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9261475" y="2278261"/>
            <a:ext cx="1998123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C1F2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讲解与文档</a:t>
            </a:r>
            <a:endParaRPr lang="en-US" sz="1800" dirty="0"/>
          </a:p>
        </p:txBody>
      </p:sp>
      <p:sp>
        <p:nvSpPr>
          <p:cNvPr id="35" name="Text 30"/>
          <p:cNvSpPr/>
          <p:nvPr/>
        </p:nvSpPr>
        <p:spPr>
          <a:xfrm>
            <a:off x="9261475" y="2641451"/>
            <a:ext cx="1998123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2E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ManimGL 讲解动画</a:t>
            </a:r>
            <a:endParaRPr lang="en-US" sz="1300" dirty="0"/>
          </a:p>
        </p:txBody>
      </p:sp>
      <p:sp>
        <p:nvSpPr>
          <p:cNvPr id="36" name="Text 31"/>
          <p:cNvSpPr/>
          <p:nvPr/>
        </p:nvSpPr>
        <p:spPr>
          <a:xfrm>
            <a:off x="9261475" y="2961481"/>
            <a:ext cx="1998123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2E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中文文档与基准报告</a:t>
            </a:r>
            <a:endParaRPr lang="en-US" sz="1300" dirty="0"/>
          </a:p>
        </p:txBody>
      </p:sp>
      <p:sp>
        <p:nvSpPr>
          <p:cNvPr id="37" name="Text 32"/>
          <p:cNvSpPr/>
          <p:nvPr/>
        </p:nvSpPr>
        <p:spPr>
          <a:xfrm>
            <a:off x="9261475" y="3281511"/>
            <a:ext cx="1998123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2E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评分对照表</a:t>
            </a:r>
            <a:endParaRPr lang="en-US" sz="1300" dirty="0"/>
          </a:p>
        </p:txBody>
      </p:sp>
      <p:sp>
        <p:nvSpPr>
          <p:cNvPr id="38" name="Text 33"/>
          <p:cNvSpPr/>
          <p:nvPr/>
        </p:nvSpPr>
        <p:spPr>
          <a:xfrm>
            <a:off x="9261475" y="4241602"/>
            <a:ext cx="1939925" cy="289520"/>
          </a:xfrm>
          <a:prstGeom prst="roundRect">
            <a:avLst>
              <a:gd name="adj" fmla="val 17546"/>
            </a:avLst>
          </a:prstGeom>
          <a:solidFill>
            <a:srgbClr val="E9E5DA"/>
          </a:solidFill>
          <a:ln/>
        </p:spPr>
        <p:txBody>
          <a:bodyPr wrap="square" lIns="86721" tIns="23221" rIns="34619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4A4F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动画场景草稿中</a:t>
            </a:r>
            <a:endParaRPr lang="en-US" sz="1200" dirty="0"/>
          </a:p>
        </p:txBody>
      </p:sp>
      <p:sp>
        <p:nvSpPr>
          <p:cNvPr id="39" name="Text 34"/>
          <p:cNvSpPr/>
          <p:nvPr/>
        </p:nvSpPr>
        <p:spPr>
          <a:xfrm>
            <a:off x="9261475" y="4620022"/>
            <a:ext cx="19981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计划：[__ 月 __ 日前]</a:t>
            </a:r>
            <a:endParaRPr lang="en-US" sz="1200" dirty="0"/>
          </a:p>
        </p:txBody>
      </p:sp>
      <p:sp>
        <p:nvSpPr>
          <p:cNvPr id="40" name="Text 35"/>
          <p:cNvSpPr/>
          <p:nvPr/>
        </p:nvSpPr>
        <p:spPr>
          <a:xfrm>
            <a:off x="812800" y="62382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Nerdle 10 格 · 开题汇报</a:t>
            </a:r>
            <a:endParaRPr lang="en-US" sz="1200" dirty="0"/>
          </a:p>
        </p:txBody>
      </p:sp>
      <p:sp>
        <p:nvSpPr>
          <p:cNvPr id="41" name="Text 36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6F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10 / 13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B6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　难点与对策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0072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C1F2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主要难点与应对办法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785541"/>
          <a:ext cx="10553700" cy="2427835"/>
        </p:xfrm>
        <a:graphic>
          <a:graphicData uri="http://schemas.openxmlformats.org/drawingml/2006/table">
            <a:tbl>
              <a:tblPr/>
              <a:tblGrid>
                <a:gridCol w="37993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54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难点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5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对策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BAB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B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5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490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搜索量大：题库 140 万，每步要为大量猜测统计 59,049 格反馈直方图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熵上界提前剪枝；候选多时先抽样估计，再精确重算前 2,000 名；多线程；开局库离线预算前两手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7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ML-2 自对弈训练实测比预估慢很多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先做性能剖析再重跑；缓存反馈桶、缩小前 K；必要时在 Mac 上用 MPS 加速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601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Swift 部分无法在开发虚拟机里编译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Swift 层保持轻薄；mac_check.sh 一键构建与测试，报告回传共享目录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490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如何确认规则理解正确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2E32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格计数与公开数字 17,723 一致；5、6 格暴力枚举交叉验证；100 万对反馈与独立参考实现比对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Nerdle 10 格 · 开题汇报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6F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11 / 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2B6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　预期成果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0072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C1F2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交付内容与评价方法</a:t>
            </a:r>
            <a:endParaRPr lang="en-US" sz="3200" dirty="0"/>
          </a:p>
        </p:txBody>
      </p:sp>
      <p:pic>
        <p:nvPicPr>
          <p:cNvPr id="4" name="Image 0" descr="CheckCircl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1842691"/>
            <a:ext cx="228600" cy="228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68400" y="1823641"/>
            <a:ext cx="46939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2E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跨平台终端版：出题、游戏、机器演示、辅助模式</a:t>
            </a:r>
            <a:endParaRPr lang="en-US" sz="1400" dirty="0"/>
          </a:p>
        </p:txBody>
      </p:sp>
      <p:pic>
        <p:nvPicPr>
          <p:cNvPr id="6" name="Image 1" descr="CheckCircl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2287191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68400" y="2268141"/>
            <a:ext cx="324856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2E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核心库 libnerdle 与 macOS 接口</a:t>
            </a:r>
            <a:endParaRPr lang="en-US" sz="1400" dirty="0"/>
          </a:p>
        </p:txBody>
      </p:sp>
      <p:pic>
        <p:nvPicPr>
          <p:cNvPr id="8" name="Image 2" descr="CheckCircl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2731691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68400" y="2712641"/>
            <a:ext cx="425565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2E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种枚举策略与 4 种机器学习方案的对比报告</a:t>
            </a:r>
            <a:endParaRPr lang="en-US" sz="1400" dirty="0"/>
          </a:p>
        </p:txBody>
      </p:sp>
      <p:pic>
        <p:nvPicPr>
          <p:cNvPr id="10" name="Image 3" descr="CheckCircl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3176191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68400" y="3157141"/>
            <a:ext cx="5892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2E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通用 Computer Use MCP 服务器，可接入 Claude Code 与 Codex</a:t>
            </a:r>
            <a:endParaRPr lang="en-US" sz="1400" dirty="0"/>
          </a:p>
        </p:txBody>
      </p:sp>
      <p:pic>
        <p:nvPicPr>
          <p:cNvPr id="12" name="Image 4" descr="CheckCircl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12800" y="3620691"/>
            <a:ext cx="228600" cy="2286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68400" y="3601641"/>
            <a:ext cx="289643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2E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ManimGL 讲解动画与中文文档</a:t>
            </a:r>
            <a:endParaRPr lang="en-US" sz="1400" dirty="0"/>
          </a:p>
        </p:txBody>
      </p:sp>
      <p:sp>
        <p:nvSpPr>
          <p:cNvPr id="14" name="Shape 7"/>
          <p:cNvSpPr/>
          <p:nvPr/>
        </p:nvSpPr>
        <p:spPr>
          <a:xfrm>
            <a:off x="7067550" y="1829991"/>
            <a:ext cx="4305300" cy="2717800"/>
          </a:xfrm>
          <a:prstGeom prst="roundRect">
            <a:avLst>
              <a:gd name="adj" fmla="val 3505"/>
            </a:avLst>
          </a:prstGeom>
          <a:solidFill>
            <a:srgbClr val="FFFDF8"/>
          </a:solidFill>
          <a:ln w="12700">
            <a:solidFill>
              <a:srgbClr val="DDD8CC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7327900" y="2064941"/>
            <a:ext cx="389813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C1F2A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评价方法</a:t>
            </a:r>
            <a:endParaRPr lang="en-US" sz="2000" dirty="0"/>
          </a:p>
        </p:txBody>
      </p:sp>
      <p:sp>
        <p:nvSpPr>
          <p:cNvPr id="16" name="Text 9"/>
          <p:cNvSpPr/>
          <p:nvPr/>
        </p:nvSpPr>
        <p:spPr>
          <a:xfrm>
            <a:off x="7327900" y="2522141"/>
            <a:ext cx="3898138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2E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统一题集</a:t>
            </a:r>
            <a:r>
              <a:rPr lang="en-US" sz="1300" dirty="0">
                <a:solidFill>
                  <a:srgbClr val="2E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8 格全部 17,723 题；10 格固定种子抽 10,000 题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7327900" y="3169841"/>
            <a:ext cx="3898138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2E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指标</a:t>
            </a:r>
            <a:r>
              <a:rPr lang="en-US" sz="1300" dirty="0">
                <a:solidFill>
                  <a:srgbClr val="2E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平均步数、步数分布、最坏步数、超过 6 步的题数、每步耗时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7327900" y="3817541"/>
            <a:ext cx="3898138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2E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验收</a:t>
            </a:r>
            <a:r>
              <a:rPr lang="en-US" sz="1300" dirty="0">
                <a:solidFill>
                  <a:srgbClr val="2E3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　主力策略全部在 6 步内解出；ML-2 平均步数不劣于 E3（3.366）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812800" y="623828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6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Nerdle 10 格 · 开题汇报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6F7A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12 / 13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8250" y="2268240"/>
            <a:ext cx="406400" cy="482600"/>
          </a:xfrm>
          <a:custGeom>
            <a:avLst/>
            <a:gdLst/>
            <a:ahLst/>
            <a:cxnLst/>
            <a:rect l="l" t="t" r="r" b="b"/>
            <a:pathLst>
              <a:path w="406400" h="482600">
                <a:moveTo>
                  <a:pt x="50800" y="0"/>
                </a:moveTo>
                <a:lnTo>
                  <a:pt x="355600" y="0"/>
                </a:lnTo>
                <a:arcTo wR="50800" hR="50800" stAng="16200000" swAng="5400000"/>
                <a:lnTo>
                  <a:pt x="406400" y="431800"/>
                </a:lnTo>
                <a:arcTo wR="50800" hR="50800" stAng="0" swAng="5400000"/>
                <a:lnTo>
                  <a:pt x="50800" y="48260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398874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20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248150" y="2268240"/>
            <a:ext cx="406400" cy="482600"/>
          </a:xfrm>
          <a:custGeom>
            <a:avLst/>
            <a:gdLst/>
            <a:ahLst/>
            <a:cxnLst/>
            <a:rect l="l" t="t" r="r" b="b"/>
            <a:pathLst>
              <a:path w="406400" h="482600">
                <a:moveTo>
                  <a:pt x="50800" y="0"/>
                </a:moveTo>
                <a:lnTo>
                  <a:pt x="355600" y="0"/>
                </a:lnTo>
                <a:arcTo wR="50800" hR="50800" stAng="16200000" swAng="5400000"/>
                <a:lnTo>
                  <a:pt x="406400" y="431800"/>
                </a:lnTo>
                <a:arcTo wR="50800" hR="50800" stAng="0" swAng="5400000"/>
                <a:lnTo>
                  <a:pt x="50800" y="48260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398874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20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718050" y="2268240"/>
            <a:ext cx="406400" cy="482600"/>
          </a:xfrm>
          <a:custGeom>
            <a:avLst/>
            <a:gdLst/>
            <a:ahLst/>
            <a:cxnLst/>
            <a:rect l="l" t="t" r="r" b="b"/>
            <a:pathLst>
              <a:path w="406400" h="482600">
                <a:moveTo>
                  <a:pt x="50800" y="0"/>
                </a:moveTo>
                <a:lnTo>
                  <a:pt x="355600" y="0"/>
                </a:lnTo>
                <a:arcTo wR="50800" hR="50800" stAng="16200000" swAng="5400000"/>
                <a:lnTo>
                  <a:pt x="406400" y="431800"/>
                </a:lnTo>
                <a:arcTo wR="50800" hR="50800" stAng="0" swAng="5400000"/>
                <a:lnTo>
                  <a:pt x="50800" y="48260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398874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20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+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187950" y="2268240"/>
            <a:ext cx="406400" cy="482600"/>
          </a:xfrm>
          <a:custGeom>
            <a:avLst/>
            <a:gdLst/>
            <a:ahLst/>
            <a:cxnLst/>
            <a:rect l="l" t="t" r="r" b="b"/>
            <a:pathLst>
              <a:path w="406400" h="482600">
                <a:moveTo>
                  <a:pt x="50800" y="0"/>
                </a:moveTo>
                <a:lnTo>
                  <a:pt x="355600" y="0"/>
                </a:lnTo>
                <a:arcTo wR="50800" hR="50800" stAng="16200000" swAng="5400000"/>
                <a:lnTo>
                  <a:pt x="406400" y="431800"/>
                </a:lnTo>
                <a:arcTo wR="50800" hR="50800" stAng="0" swAng="5400000"/>
                <a:lnTo>
                  <a:pt x="50800" y="48260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398874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20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657850" y="2268240"/>
            <a:ext cx="406400" cy="482600"/>
          </a:xfrm>
          <a:custGeom>
            <a:avLst/>
            <a:gdLst/>
            <a:ahLst/>
            <a:cxnLst/>
            <a:rect l="l" t="t" r="r" b="b"/>
            <a:pathLst>
              <a:path w="406400" h="482600">
                <a:moveTo>
                  <a:pt x="50800" y="0"/>
                </a:moveTo>
                <a:lnTo>
                  <a:pt x="355600" y="0"/>
                </a:lnTo>
                <a:arcTo wR="50800" hR="50800" stAng="16200000" swAng="5400000"/>
                <a:lnTo>
                  <a:pt x="406400" y="431800"/>
                </a:lnTo>
                <a:arcTo wR="50800" hR="50800" stAng="0" swAng="5400000"/>
                <a:lnTo>
                  <a:pt x="50800" y="48260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398874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20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5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127750" y="2268240"/>
            <a:ext cx="406400" cy="482600"/>
          </a:xfrm>
          <a:custGeom>
            <a:avLst/>
            <a:gdLst/>
            <a:ahLst/>
            <a:cxnLst/>
            <a:rect l="l" t="t" r="r" b="b"/>
            <a:pathLst>
              <a:path w="406400" h="482600">
                <a:moveTo>
                  <a:pt x="50800" y="0"/>
                </a:moveTo>
                <a:lnTo>
                  <a:pt x="355600" y="0"/>
                </a:lnTo>
                <a:arcTo wR="50800" hR="50800" stAng="16200000" swAng="5400000"/>
                <a:lnTo>
                  <a:pt x="406400" y="431800"/>
                </a:lnTo>
                <a:arcTo wR="50800" hR="50800" stAng="0" swAng="5400000"/>
                <a:lnTo>
                  <a:pt x="50800" y="48260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398874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20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−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97650" y="2268240"/>
            <a:ext cx="406400" cy="482600"/>
          </a:xfrm>
          <a:custGeom>
            <a:avLst/>
            <a:gdLst/>
            <a:ahLst/>
            <a:cxnLst/>
            <a:rect l="l" t="t" r="r" b="b"/>
            <a:pathLst>
              <a:path w="406400" h="482600">
                <a:moveTo>
                  <a:pt x="50800" y="0"/>
                </a:moveTo>
                <a:lnTo>
                  <a:pt x="355600" y="0"/>
                </a:lnTo>
                <a:arcTo wR="50800" hR="50800" stAng="16200000" swAng="5400000"/>
                <a:lnTo>
                  <a:pt x="406400" y="431800"/>
                </a:lnTo>
                <a:arcTo wR="50800" hR="50800" stAng="0" swAng="5400000"/>
                <a:lnTo>
                  <a:pt x="50800" y="48260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398874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20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7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067550" y="2268240"/>
            <a:ext cx="406400" cy="482600"/>
          </a:xfrm>
          <a:custGeom>
            <a:avLst/>
            <a:gdLst/>
            <a:ahLst/>
            <a:cxnLst/>
            <a:rect l="l" t="t" r="r" b="b"/>
            <a:pathLst>
              <a:path w="406400" h="482600">
                <a:moveTo>
                  <a:pt x="50800" y="0"/>
                </a:moveTo>
                <a:lnTo>
                  <a:pt x="355600" y="0"/>
                </a:lnTo>
                <a:arcTo wR="50800" hR="50800" stAng="16200000" swAng="5400000"/>
                <a:lnTo>
                  <a:pt x="406400" y="431800"/>
                </a:lnTo>
                <a:arcTo wR="50800" hR="50800" stAng="0" swAng="5400000"/>
                <a:lnTo>
                  <a:pt x="50800" y="48260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398874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20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=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537450" y="2268240"/>
            <a:ext cx="406400" cy="482600"/>
          </a:xfrm>
          <a:custGeom>
            <a:avLst/>
            <a:gdLst/>
            <a:ahLst/>
            <a:cxnLst/>
            <a:rect l="l" t="t" r="r" b="b"/>
            <a:pathLst>
              <a:path w="406400" h="482600">
                <a:moveTo>
                  <a:pt x="50800" y="0"/>
                </a:moveTo>
                <a:lnTo>
                  <a:pt x="355600" y="0"/>
                </a:lnTo>
                <a:arcTo wR="50800" hR="50800" stAng="16200000" swAng="5400000"/>
                <a:lnTo>
                  <a:pt x="406400" y="431800"/>
                </a:lnTo>
                <a:arcTo wR="50800" hR="50800" stAng="0" swAng="5400000"/>
                <a:lnTo>
                  <a:pt x="50800" y="48260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398874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20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4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007350" y="2268240"/>
            <a:ext cx="406400" cy="482600"/>
          </a:xfrm>
          <a:custGeom>
            <a:avLst/>
            <a:gdLst/>
            <a:ahLst/>
            <a:cxnLst/>
            <a:rect l="l" t="t" r="r" b="b"/>
            <a:pathLst>
              <a:path w="406400" h="482600">
                <a:moveTo>
                  <a:pt x="50800" y="0"/>
                </a:moveTo>
                <a:lnTo>
                  <a:pt x="355600" y="0"/>
                </a:lnTo>
                <a:arcTo wR="50800" hR="50800" stAng="16200000" swAng="5400000"/>
                <a:lnTo>
                  <a:pt x="406400" y="431800"/>
                </a:lnTo>
                <a:arcTo wR="50800" hR="50800" stAng="0" swAng="5400000"/>
                <a:lnTo>
                  <a:pt x="50800" y="482600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398874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2000" b="1" dirty="0">
                <a:solidFill>
                  <a:srgbClr val="F6F4EE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0</a:t>
            </a:r>
            <a:endParaRPr lang="en-US" sz="2000" dirty="0"/>
          </a:p>
        </p:txBody>
      </p:sp>
      <p:sp>
        <p:nvSpPr>
          <p:cNvPr id="12" name="Text 10"/>
          <p:cNvSpPr>
            <a:spLocks noGrp="1"/>
          </p:cNvSpPr>
          <p:nvPr>
            <p:ph type="title"/>
          </p:nvPr>
        </p:nvSpPr>
        <p:spPr>
          <a:xfrm>
            <a:off x="5181600" y="3055640"/>
            <a:ext cx="18288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6600"/>
              </a:lnSpc>
              <a:buNone/>
            </a:pPr>
            <a:r>
              <a:rPr lang="en-US" sz="6000" b="1" i="0" dirty="0">
                <a:solidFill>
                  <a:srgbClr val="F2EFE6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谢谢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4419600" y="4198640"/>
            <a:ext cx="335280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080"/>
              </a:lnSpc>
              <a:buNone/>
            </a:pPr>
            <a:r>
              <a:rPr lang="en-US" sz="2200" dirty="0">
                <a:solidFill>
                  <a:srgbClr val="D9D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恳请各位老师批评指正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rdle 开题汇报">
  <a:themeElements>
    <a:clrScheme name="Nerdle 开题汇报">
      <a:dk1>
        <a:srgbClr val="1C1F2A"/>
      </a:dk1>
      <a:lt1>
        <a:srgbClr val="F6F4EE"/>
      </a:lt1>
      <a:dk2>
        <a:srgbClr val="53545B"/>
      </a:dk2>
      <a:lt2>
        <a:srgbClr val="E0DFDA"/>
      </a:lt2>
      <a:accent1>
        <a:srgbClr val="398874"/>
      </a:accent1>
      <a:accent2>
        <a:srgbClr val="820458"/>
      </a:accent2>
      <a:accent3>
        <a:srgbClr val="2B6E5E"/>
      </a:accent3>
      <a:accent4>
        <a:srgbClr val="6FC3A9"/>
      </a:accent4>
      <a:accent5>
        <a:srgbClr val="6B6F7A"/>
      </a:accent5>
      <a:accent6>
        <a:srgbClr val="4A4F5C"/>
      </a:accent6>
      <a:hlink>
        <a:srgbClr val="0563C1"/>
      </a:hlink>
      <a:folHlink>
        <a:srgbClr val="954F72"/>
      </a:folHlink>
    </a:clrScheme>
    <a:fontScheme name="Nerdle 开题汇报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1519</Words>
  <Application>Microsoft Macintosh PowerPoint</Application>
  <PresentationFormat>宽屏</PresentationFormat>
  <Paragraphs>354</Paragraphs>
  <Slides>15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Arial</vt:lpstr>
      <vt:lpstr>Courier New</vt:lpstr>
      <vt:lpstr>Georgia</vt:lpstr>
      <vt:lpstr>Nerdle 开题汇报</vt:lpstr>
      <vt:lpstr>Nerdle 10 格</vt:lpstr>
      <vt:lpstr>Nerdle：猜一个成立的等式</vt:lpstr>
      <vt:lpstr>10 格规则与题库规模</vt:lpstr>
      <vt:lpstr>三项核心任务</vt:lpstr>
      <vt:lpstr>一个 C 核心，多端复用</vt:lpstr>
      <vt:lpstr>PowerPoint 演示文稿</vt:lpstr>
      <vt:lpstr>PowerPoint 演示文稿</vt:lpstr>
      <vt:lpstr>每一步，把候选集切小</vt:lpstr>
      <vt:lpstr>九种枚举策略，从基线到最优</vt:lpstr>
      <vt:lpstr>让程序自己学会解题</vt:lpstr>
      <vt:lpstr>已完成部分：10 格 1 万题基准</vt:lpstr>
      <vt:lpstr>四个阶段，第一阶段已完成</vt:lpstr>
      <vt:lpstr>主要难点与应对办法</vt:lpstr>
      <vt:lpstr>交付内容与评价方法</vt:lpstr>
      <vt:lpstr>谢谢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Nerdle 开题汇报</dc:title>
  <dc:subject/>
  <dc:creator/>
  <cp:lastModifiedBy>Haoxuan Yao</cp:lastModifiedBy>
  <cp:revision>2</cp:revision>
  <dcterms:created xsi:type="dcterms:W3CDTF">2026-10-09T08:15:33Z</dcterms:created>
  <dcterms:modified xsi:type="dcterms:W3CDTF">2026-10-09T08:20:31Z</dcterms:modified>
</cp:coreProperties>
</file>